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3"/>
    <p:sldId id="265" r:id="rId24"/>
    <p:sldId id="266" r:id="rId25"/>
    <p:sldId id="267" r:id="rId26"/>
  </p:sldIdLst>
  <p:sldSz cx="9144000" cy="5143500" type="screen16x9"/>
  <p:notesSz cx="6858000" cy="9144000"/>
  <p:embeddedFontLst>
    <p:embeddedFont>
      <p:font typeface="Manrope" panose="020B0604020202020204" charset="0"/>
      <p:regular r:id="rId12"/>
      <p:bold r:id="rId13"/>
    </p:embeddedFont>
    <p:embeddedFont>
      <p:font typeface="Manrope ExtraBold" panose="020B0604020202020204" charset="0"/>
      <p:bold r:id="rId14"/>
    </p:embeddedFont>
    <p:embeddedFont>
      <p:font typeface="Open Sans Medium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0284A8-20DF-4F42-83ED-952D9E685EA5}">
  <a:tblStyle styleId="{C50284A8-20DF-4F42-83ED-952D9E685EA5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7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2437" y="4439643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52438" y="2698824"/>
            <a:ext cx="82391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4502906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First Deposits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94740" y="2830653"/>
            <a:ext cx="270205" cy="29659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876" y="291494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740" y="2787036"/>
            <a:ext cx="270205" cy="4361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4740" y="2693986"/>
            <a:ext cx="270205" cy="9304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876" y="2690219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51110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5082" y="2831622"/>
            <a:ext cx="270205" cy="295625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218" y="291542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5082" y="2798667"/>
            <a:ext cx="270205" cy="3295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5082" y="2751173"/>
            <a:ext cx="270205" cy="4749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5013" y="2568293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5013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5424" y="2716280"/>
            <a:ext cx="270205" cy="41096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0560" y="285775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95424" y="2607722"/>
            <a:ext cx="270205" cy="108557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0560" y="2611709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95424" y="2472994"/>
            <a:ext cx="270205" cy="13472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0560" y="2490066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5356" y="229011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535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5766" y="2544720"/>
            <a:ext cx="270205" cy="58252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0902" y="277197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601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5766" y="2442947"/>
            <a:ext cx="270205" cy="10177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0902" y="2443541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5766" y="2319851"/>
            <a:ext cx="270205" cy="1230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0902" y="2331107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55698" y="2136971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5698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6108" y="2302404"/>
            <a:ext cx="270205" cy="82484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41244" y="265081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851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6108" y="2121151"/>
            <a:ext cx="270205" cy="18125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41244" y="2147770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187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6108" y="1880774"/>
            <a:ext cx="270205" cy="24037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41244" y="1936955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169789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46450" y="2309189"/>
            <a:ext cx="270205" cy="818058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1586" y="2654210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844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6450" y="2161861"/>
            <a:ext cx="270205" cy="14732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1586" y="217151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152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6450" y="1992239"/>
            <a:ext cx="270205" cy="16962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1586" y="201304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6382" y="1809359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638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6792" y="1908883"/>
            <a:ext cx="270205" cy="121836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1928" y="245405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1,257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96792" y="1698552"/>
            <a:ext cx="270205" cy="21033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41928" y="1739710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6792" y="1495976"/>
            <a:ext cx="270205" cy="20257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41928" y="153325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6724" y="131309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6724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47134" y="2176400"/>
            <a:ext cx="270205" cy="95084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92270" y="258781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981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47134" y="2010655"/>
            <a:ext cx="270205" cy="16574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92270" y="2029519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171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47134" y="1827464"/>
            <a:ext cx="270205" cy="18319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92270" y="185505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57066" y="164458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706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Non Qualified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61464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98624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Qualified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3903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76195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Super Qualified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TYPE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9379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3659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659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3659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659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$150K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83860" y="2516376"/>
            <a:ext cx="270205" cy="61087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28996" y="2757804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$63K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83860" y="2507783"/>
            <a:ext cx="270205" cy="859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83860" y="2322977"/>
            <a:ext cx="270205" cy="1848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28996" y="235137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$19K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3792" y="2140097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379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34202" y="2648151"/>
            <a:ext cx="270205" cy="47909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79338" y="282369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$49K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34202" y="2642623"/>
            <a:ext cx="270205" cy="5527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34202" y="2582343"/>
            <a:ext cx="270205" cy="6028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44133" y="2399463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4133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544" y="2667441"/>
            <a:ext cx="270205" cy="45980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29680" y="283333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$47K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84544" y="2644708"/>
            <a:ext cx="270205" cy="2273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184544" y="2155301"/>
            <a:ext cx="270205" cy="48940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29680" y="233599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$50K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94476" y="1972421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447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34886" y="2644532"/>
            <a:ext cx="270205" cy="482715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80022" y="282188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$50K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34886" y="2624643"/>
            <a:ext cx="270205" cy="198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634886" y="2437288"/>
            <a:ext cx="270205" cy="18735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80022" y="246695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$19K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44818" y="225440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44818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85228" y="2281916"/>
            <a:ext cx="270205" cy="84533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30364" y="2640574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$87K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85228" y="2242345"/>
            <a:ext cx="270205" cy="3957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085228" y="1668394"/>
            <a:ext cx="270205" cy="5739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30364" y="189136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$59K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148551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95160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535570" y="2589650"/>
            <a:ext cx="270205" cy="53759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80706" y="279444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$55K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35570" y="2558849"/>
            <a:ext cx="270205" cy="3080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535570" y="2214298"/>
            <a:ext cx="270205" cy="3445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80706" y="2322565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$36K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45502" y="203141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4550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85912" y="2523140"/>
            <a:ext cx="270205" cy="60410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931048" y="276118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$62K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85912" y="2478618"/>
            <a:ext cx="270205" cy="4452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985912" y="1678139"/>
            <a:ext cx="270205" cy="8004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931048" y="201437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$83K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95844" y="1495259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95844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36254" y="2347185"/>
            <a:ext cx="270205" cy="78006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81390" y="267320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$80K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436254" y="2314959"/>
            <a:ext cx="270205" cy="3222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436254" y="1674902"/>
            <a:ext cx="270205" cy="64005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81390" y="1930923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$66K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46186" y="1492022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4618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DEPOSITED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Jul was the largest month at 1,683 first deposits; May brought the most money, $151K of $855K.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Non Qualified is 71% of the count but only 58% of the value.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Super Qualified is 16% of the count and 40% of the value.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Year on 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4974" y="2328574"/>
            <a:ext cx="118872" cy="79867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810" y="218684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824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8710" y="2693986"/>
            <a:ext cx="118872" cy="43326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4410" y="255225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8458" y="2137629"/>
            <a:ext cx="118872" cy="98961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9294" y="1995897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2194" y="2751173"/>
            <a:ext cx="118872" cy="37607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7894" y="260944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3020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1942" y="2031010"/>
            <a:ext cx="118872" cy="109623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2778" y="188927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1,131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5678" y="2472994"/>
            <a:ext cx="118872" cy="65425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1378" y="233126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65426" y="2338267"/>
            <a:ext cx="118872" cy="78898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96262" y="2196535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814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39162" y="2319851"/>
            <a:ext cx="118872" cy="8073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4862" y="217811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9988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8910" y="1900159"/>
            <a:ext cx="118872" cy="122708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39746" y="1758427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1,266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2646" y="1880774"/>
            <a:ext cx="118872" cy="124647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8346" y="173904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394" y="2238432"/>
            <a:ext cx="118872" cy="88881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3230" y="209670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917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26130" y="1992239"/>
            <a:ext cx="118872" cy="11350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1830" y="1850507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6956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95878" y="2361529"/>
            <a:ext cx="118872" cy="76571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6714" y="2219797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790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9613" y="1495976"/>
            <a:ext cx="118872" cy="163127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5313" y="135424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9362" y="2372191"/>
            <a:ext cx="118872" cy="75505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70198" y="223045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779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13098" y="1827464"/>
            <a:ext cx="118872" cy="129978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98798" y="168573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3924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4865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2" y="305866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6592" y="241249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6592" y="1766316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1120139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$300K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4094" y="1895506"/>
            <a:ext cx="118872" cy="123174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54930" y="175377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$191K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97829" y="2591068"/>
            <a:ext cx="118872" cy="5361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83530" y="24493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48656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7578" y="1346721"/>
            <a:ext cx="118872" cy="17805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98414" y="120498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$276K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1314" y="2763978"/>
            <a:ext cx="118872" cy="36326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27014" y="262224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92140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1062" y="1518481"/>
            <a:ext cx="118872" cy="16087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41898" y="137674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$249K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84798" y="2479283"/>
            <a:ext cx="118872" cy="64796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70498" y="233755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4546" y="2208871"/>
            <a:ext cx="118872" cy="91837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85382" y="206713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$142K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28281" y="2667274"/>
            <a:ext cx="118872" cy="45997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13982" y="252554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79108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98030" y="2075657"/>
            <a:ext cx="118872" cy="105159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28866" y="1933925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$163K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71766" y="2154679"/>
            <a:ext cx="118872" cy="97256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57466" y="2012947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22592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1514" y="2519025"/>
            <a:ext cx="118872" cy="60822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2350" y="2377293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$94K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15250" y="2518614"/>
            <a:ext cx="118872" cy="60863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237688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66076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84998" y="2369954"/>
            <a:ext cx="118872" cy="75729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15833" y="2228222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$117K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58734" y="2161175"/>
            <a:ext cx="118872" cy="9660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4433" y="2019443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8482" y="2184151"/>
            <a:ext cx="118872" cy="94309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59318" y="204241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$146K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02218" y="2159017"/>
            <a:ext cx="118872" cy="96823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87918" y="2017285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53044" y="3172968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4865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8581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0219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39358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BY MONTH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7,824 first deposits against 7,542 (+4%), worth $855K against $1.4M (-38%).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Count is ahead in 5 of the 8 months while value is behind in 5: more players, each depositing less.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H1 2025 carried fraudulent signups from Kazakhstan, Japan, Brazil and Russia — 1,113 first deposits worth $283K, 25% of H1 value, against $155K this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First Deposits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94740" y="2790913"/>
            <a:ext cx="270205" cy="33633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876" y="289507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740" y="2695925"/>
            <a:ext cx="270205" cy="9498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876" y="2693127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740" y="2693986"/>
            <a:ext cx="270205" cy="193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51110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5082" y="2833561"/>
            <a:ext cx="270205" cy="29368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218" y="291639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5082" y="2752142"/>
            <a:ext cx="270205" cy="81418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5082" y="2751173"/>
            <a:ext cx="270205" cy="96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5013" y="2568293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5013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5424" y="2804483"/>
            <a:ext cx="270205" cy="32276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0560" y="290185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95424" y="2586398"/>
            <a:ext cx="270205" cy="218084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0560" y="263143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95424" y="2472994"/>
            <a:ext cx="270205" cy="1134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0560" y="2479404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5356" y="229011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535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5766" y="2820960"/>
            <a:ext cx="270205" cy="30628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0902" y="291009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5766" y="2559259"/>
            <a:ext cx="270205" cy="26170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0902" y="262610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5766" y="2319851"/>
            <a:ext cx="270205" cy="2394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0902" y="237554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55698" y="2136971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5698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6108" y="2666847"/>
            <a:ext cx="270205" cy="46040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41244" y="2833039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6108" y="2446824"/>
            <a:ext cx="270205" cy="22002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41244" y="249282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6108" y="1880774"/>
            <a:ext cx="270205" cy="5660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41244" y="209979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584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169789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46450" y="2569921"/>
            <a:ext cx="270205" cy="55732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1586" y="278457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575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6450" y="2395453"/>
            <a:ext cx="270205" cy="17446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1586" y="2418679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180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6450" y="1992239"/>
            <a:ext cx="270205" cy="4032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1586" y="212983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416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6382" y="1809359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638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6792" y="2432285"/>
            <a:ext cx="270205" cy="694962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1928" y="271575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717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96792" y="2283019"/>
            <a:ext cx="270205" cy="14926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41928" y="2293644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154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6792" y="1495976"/>
            <a:ext cx="270205" cy="78704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41928" y="1825489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812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6724" y="131309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6724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47134" y="2633892"/>
            <a:ext cx="270205" cy="49335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92270" y="281656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509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47134" y="2392545"/>
            <a:ext cx="270205" cy="24134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92270" y="244921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249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47134" y="1827464"/>
            <a:ext cx="270205" cy="56508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92270" y="204599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583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57066" y="164458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706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47825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84985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25396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CHANNEL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9379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3659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659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3659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659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$150K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83860" y="2443565"/>
            <a:ext cx="270205" cy="683682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28996" y="2721398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83860" y="2323394"/>
            <a:ext cx="270205" cy="12017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28996" y="2333188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$12K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83860" y="2322977"/>
            <a:ext cx="270205" cy="41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93792" y="2140097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379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34202" y="2620202"/>
            <a:ext cx="270205" cy="50704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79338" y="280971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$52K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34202" y="2582535"/>
            <a:ext cx="270205" cy="3766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34202" y="2582343"/>
            <a:ext cx="270205" cy="19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44133" y="2399463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4133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544" y="2387610"/>
            <a:ext cx="270205" cy="73963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29680" y="269342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$76K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84544" y="2229858"/>
            <a:ext cx="270205" cy="15775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9680" y="224472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$16K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84544" y="2155301"/>
            <a:ext cx="270205" cy="7455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94476" y="1972421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447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34886" y="2832042"/>
            <a:ext cx="270205" cy="29520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80022" y="291563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$30K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34886" y="2554687"/>
            <a:ext cx="270205" cy="277355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0022" y="262935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$29K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34886" y="2437288"/>
            <a:ext cx="270205" cy="11739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0022" y="2445695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$12K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44818" y="225440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44818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85228" y="2432211"/>
            <a:ext cx="270205" cy="69503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30364" y="271572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$72K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85228" y="2250546"/>
            <a:ext cx="270205" cy="181665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30364" y="2277371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$19K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85228" y="1668394"/>
            <a:ext cx="270205" cy="58215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30364" y="1895462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$60K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148551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95160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35570" y="2732159"/>
            <a:ext cx="270205" cy="395088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80706" y="2865695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$41K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35570" y="2554948"/>
            <a:ext cx="270205" cy="17721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80706" y="2579546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$18K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535570" y="2214298"/>
            <a:ext cx="270205" cy="3406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480706" y="2320615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$35K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45502" y="203141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4550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85912" y="2732198"/>
            <a:ext cx="270205" cy="395049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931048" y="2865715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$41K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85912" y="2622455"/>
            <a:ext cx="270205" cy="10974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931048" y="2627034"/>
            <a:ext cx="379933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$11K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985912" y="1678139"/>
            <a:ext cx="270205" cy="94431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931048" y="2086289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$97K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95844" y="1495259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95844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36254" y="2759529"/>
            <a:ext cx="270205" cy="367718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381390" y="2879380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$38K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36254" y="2603508"/>
            <a:ext cx="270205" cy="15602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381390" y="2617510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$16K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36254" y="1674902"/>
            <a:ext cx="270205" cy="9286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81390" y="2075197"/>
            <a:ext cx="3799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$96K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46186" y="1492022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4618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193792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33095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36945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874105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14516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55167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BY CHANNEL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Direct is 46% of the count and 49% of the value — still the largest channel on both.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Streamer is 35% of the count and 36% of the value, at $112 per first deposit against $118 for Direct.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Affiliate is the weakest per deposit: 1,487 first deposits worth $126K, $84 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Channels by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2980944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2912364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46430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1625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568196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4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688" y="2113507"/>
            <a:ext cx="378439" cy="86743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6688" y="1648873"/>
            <a:ext cx="378439" cy="464634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6688" y="1647529"/>
            <a:ext cx="378439" cy="134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588" y="147379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2,976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588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6568" y="2540504"/>
            <a:ext cx="378439" cy="440439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96568" y="2358146"/>
            <a:ext cx="378439" cy="182358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96568" y="2304379"/>
            <a:ext cx="378439" cy="5376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1467" y="213064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1,510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1467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09312" y="2312892"/>
            <a:ext cx="378439" cy="668051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9312" y="1974610"/>
            <a:ext cx="378439" cy="33828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312" y="1638120"/>
            <a:ext cx="378439" cy="33649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4212" y="146438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2,997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4212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9192" y="2368899"/>
            <a:ext cx="378439" cy="61204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79192" y="2065565"/>
            <a:ext cx="378439" cy="30333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79192" y="1506839"/>
            <a:ext cx="378439" cy="55872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4091" y="133310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3,290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4091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2160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1936" y="2517206"/>
            <a:ext cx="378439" cy="46373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1936" y="2315132"/>
            <a:ext cx="378439" cy="20207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91936" y="2277944"/>
            <a:ext cx="378439" cy="3718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6836" y="21042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1,569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6836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61816" y="2431627"/>
            <a:ext cx="378439" cy="54931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61816" y="2251060"/>
            <a:ext cx="378439" cy="18056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61816" y="1626022"/>
            <a:ext cx="378439" cy="62503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76715" y="145228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3,024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715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4784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Q3 QTD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2689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39849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80260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7420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CHANNEL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48656" y="2980944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2912364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36592" y="246430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6592" y="201625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$400K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6592" y="1568196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$600K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6592" y="112014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$800K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15808" y="1868748"/>
            <a:ext cx="378439" cy="111219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5808" y="1410973"/>
            <a:ext cx="378439" cy="457774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5808" y="1378840"/>
            <a:ext cx="378439" cy="3213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708" y="120510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$715K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0708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85688" y="2534774"/>
            <a:ext cx="378439" cy="446169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85688" y="2461831"/>
            <a:ext cx="378439" cy="7294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85688" y="2444458"/>
            <a:ext cx="378439" cy="173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00587" y="227072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$239K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0587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48656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98432" y="2292573"/>
            <a:ext cx="378439" cy="68837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98432" y="2114408"/>
            <a:ext cx="378439" cy="178165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98432" y="2087090"/>
            <a:ext cx="378439" cy="2731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13332" y="191335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$399K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3332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68312" y="2660749"/>
            <a:ext cx="378439" cy="32019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68312" y="2513696"/>
            <a:ext cx="378439" cy="14705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68312" y="2273272"/>
            <a:ext cx="378439" cy="24042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83211" y="20995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$316K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83211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1280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81056" y="2547579"/>
            <a:ext cx="378439" cy="43336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81056" y="2413591"/>
            <a:ext cx="378439" cy="13398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81056" y="2391422"/>
            <a:ext cx="378439" cy="2216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95956" y="221768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$263K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95956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50935" y="2804643"/>
            <a:ext cx="378439" cy="17630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50935" y="2743217"/>
            <a:ext cx="378439" cy="6142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50935" y="2310324"/>
            <a:ext cx="378439" cy="43289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65835" y="21365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$299K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65835" y="30266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13904" y="3172968"/>
            <a:ext cx="1182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Q3 QTD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48656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8581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91809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28969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69380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06540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BY CHANNEL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Q1 -49% count, -67% value · Q2 +10% count, -21% value · Q3 QTD +93% count, +14% value — the gap closes every quarter.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Q3 QTD is the first quarter ahead of 2025 on both count and value, at 3,024 first deposits worth $299K.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Streamer drives it: 8% of Q1 first deposits, 38% in Q2, 46% in Q3 QTD, while Direct value fell from $496K to $79K.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Active Depositors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8715" y="2889778"/>
            <a:ext cx="310896" cy="237469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851" y="294450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8715" y="2615476"/>
            <a:ext cx="310896" cy="27430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851" y="268861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566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8715" y="2398846"/>
            <a:ext cx="310896" cy="21663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851" y="244315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215966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7697" y="2912556"/>
            <a:ext cx="310896" cy="21469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2832" y="295589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7697" y="2723064"/>
            <a:ext cx="310896" cy="18949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2832" y="275380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7697" y="2497711"/>
            <a:ext cx="310896" cy="22535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2832" y="254637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3653" y="2314831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1,299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46679" y="2933395"/>
            <a:ext cx="310896" cy="19385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1815" y="296631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46679" y="2774920"/>
            <a:ext cx="310896" cy="15847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1815" y="279014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6679" y="2403207"/>
            <a:ext cx="310896" cy="37171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1815" y="2525056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767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2636" y="2220327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1,494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5661" y="2915948"/>
            <a:ext cx="310896" cy="211299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0797" y="2957590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661" y="2756019"/>
            <a:ext cx="310896" cy="15992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0797" y="2771976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45661" y="2243279"/>
            <a:ext cx="310896" cy="5127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90797" y="243564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1,058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1618" y="2060399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1,824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4643" y="2911586"/>
            <a:ext cx="310896" cy="21566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9779" y="295540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4643" y="2756019"/>
            <a:ext cx="310896" cy="15556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9779" y="276979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44643" y="1998540"/>
            <a:ext cx="310896" cy="7574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9779" y="231327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1,563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1815660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2,329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3625" y="2862154"/>
            <a:ext cx="310896" cy="26509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8761" y="293069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547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3625" y="2683809"/>
            <a:ext cx="310896" cy="17834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8761" y="270897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3625" y="1935537"/>
            <a:ext cx="310896" cy="74827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8761" y="224566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1,544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9582" y="1752657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2,459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42607" y="2846646"/>
            <a:ext cx="310896" cy="28060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7743" y="292293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579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42607" y="2673632"/>
            <a:ext cx="310896" cy="17301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7743" y="269613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2607" y="1616650"/>
            <a:ext cx="310896" cy="105698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7743" y="208113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2,181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98564" y="1433770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3,117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1589" y="2873300"/>
            <a:ext cx="310896" cy="25394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6725" y="2936266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1589" y="2718218"/>
            <a:ext cx="310896" cy="15508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86725" y="273175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1589" y="1801294"/>
            <a:ext cx="310896" cy="91692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86725" y="219574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1,892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7546" y="1618414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2,736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ACTIVE DEPOSITORS BY FTD COHORT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Active depositors ran from 1,503 in Jan to a peak of 3,117 in Jul, and are +60% year on year in Aug.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 base has turned over: 2026 first depositors went from 30% of Jan's depositors to 69% in Aug.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 2025 cohort fell from 38% to 12% of active depositors — growth is new players, not returning 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Deposit Amount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67096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28325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95551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$3.0M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784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8715" y="2406847"/>
            <a:ext cx="310896" cy="72040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3851" y="270303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$1.9M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8715" y="2039403"/>
            <a:ext cx="310896" cy="36744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851" y="215911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$948K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8715" y="1936359"/>
            <a:ext cx="310896" cy="10304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851" y="1937589"/>
            <a:ext cx="420624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$266K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753479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7697" y="2559270"/>
            <a:ext cx="310896" cy="56797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2832" y="277925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7697" y="2323369"/>
            <a:ext cx="310896" cy="23590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92832" y="237731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$608K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7697" y="2188421"/>
            <a:ext cx="310896" cy="13494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2832" y="2205603"/>
            <a:ext cx="420624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$348K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3653" y="2005541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$2.4M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6679" y="2644547"/>
            <a:ext cx="310896" cy="48270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1815" y="282188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46679" y="2372278"/>
            <a:ext cx="310896" cy="272269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1815" y="244440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$702K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6679" y="2141205"/>
            <a:ext cx="310896" cy="2310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1815" y="219273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$596K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2636" y="1958325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$2.5M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5661" y="2394677"/>
            <a:ext cx="310896" cy="73257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0797" y="269695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$1.9M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5661" y="2155301"/>
            <a:ext cx="310896" cy="23937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90797" y="221098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$617K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661" y="1957695"/>
            <a:ext cx="310896" cy="19760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90797" y="1992490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$510K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1618" y="1774815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4643" y="2434464"/>
            <a:ext cx="310896" cy="69278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9779" y="271684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$1.8M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44643" y="2118522"/>
            <a:ext cx="310896" cy="31594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9779" y="221248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$815K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44643" y="1790882"/>
            <a:ext cx="310896" cy="32763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89779" y="189069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$845K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1608002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$3.4M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3625" y="2414001"/>
            <a:ext cx="310896" cy="71324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8761" y="2706616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$1.8M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43625" y="2130812"/>
            <a:ext cx="310896" cy="2831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8761" y="220839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$730K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3625" y="1807172"/>
            <a:ext cx="310896" cy="3236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8761" y="190498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$835K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9582" y="1624292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$3.4M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42607" y="2512455"/>
            <a:ext cx="310896" cy="61479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7743" y="275584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$1.6M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42607" y="2115993"/>
            <a:ext cx="310896" cy="39646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7743" y="2250216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$1.0M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42607" y="1603097"/>
            <a:ext cx="310896" cy="51289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87743" y="179553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$1.3M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8564" y="1420217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$3.9M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41589" y="2481233"/>
            <a:ext cx="310896" cy="64601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86725" y="274023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$1.7M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41589" y="2154340"/>
            <a:ext cx="310896" cy="32689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86725" y="225377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$843K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1589" y="1635749"/>
            <a:ext cx="310896" cy="51859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86725" y="183103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7546" y="1452869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$3.8M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DEPOSITS BY FTD COHORT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Deposits are $25.7M across Jan – Aug against $24.0M in 2025 (+7%) — the money is holding up where FTD value is not.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2026 first depositors went from 9% of deposits in Jan to 35% in Aug, $1.3M of $3.8M.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Pre-2025 players still fund 43% of deposits while being only 19% of depositors — the old base is small but heavy.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Adjusted GGR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8715" y="2700775"/>
            <a:ext cx="310896" cy="42647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851" y="285000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$440K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8715" y="2164630"/>
            <a:ext cx="310896" cy="53614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851" y="236869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$553K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8715" y="2151041"/>
            <a:ext cx="310896" cy="1358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968161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7697" y="2410663"/>
            <a:ext cx="310896" cy="71658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2832" y="2704947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$739K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7697" y="2117075"/>
            <a:ext cx="310896" cy="2935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2832" y="219986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$303K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7697" y="2116561"/>
            <a:ext cx="310896" cy="5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3653" y="1933681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6679" y="2526545"/>
            <a:ext cx="310896" cy="60070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1815" y="276288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$620K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46679" y="2262276"/>
            <a:ext cx="310896" cy="26426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1815" y="233040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$273K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46679" y="2028100"/>
            <a:ext cx="310896" cy="23417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1815" y="2081180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$242K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2636" y="1845220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45661" y="2453456"/>
            <a:ext cx="310896" cy="67379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0797" y="2726344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$695K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5661" y="2155677"/>
            <a:ext cx="310896" cy="29777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0797" y="224055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$307K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661" y="2011780"/>
            <a:ext cx="310896" cy="1438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0797" y="201972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$148K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1618" y="1828900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4643" y="2283215"/>
            <a:ext cx="310896" cy="84403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9779" y="264122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$871K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4643" y="1921143"/>
            <a:ext cx="310896" cy="36207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9779" y="2038171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$374K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4643" y="1716018"/>
            <a:ext cx="310896" cy="20512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9779" y="175457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$212K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1533138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3625" y="2678118"/>
            <a:ext cx="310896" cy="449129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8761" y="283867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$463K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3625" y="2401882"/>
            <a:ext cx="310896" cy="27623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8761" y="247599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$285K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3625" y="2204704"/>
            <a:ext cx="310896" cy="19717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8761" y="223928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$203K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9582" y="2021824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$952K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42607" y="2543804"/>
            <a:ext cx="310896" cy="58344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87743" y="2771518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$602K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42607" y="2165129"/>
            <a:ext cx="310896" cy="37867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7743" y="2290459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$391K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42607" y="1949478"/>
            <a:ext cx="310896" cy="2156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7743" y="199329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$222K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98564" y="1766598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41589" y="2479314"/>
            <a:ext cx="310896" cy="64793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725" y="2739273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$668K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1589" y="2178252"/>
            <a:ext cx="310896" cy="30106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6725" y="2264775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$311K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1589" y="1997467"/>
            <a:ext cx="310896" cy="18078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86725" y="2023852"/>
            <a:ext cx="4206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$187K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7546" y="1814587"/>
            <a:ext cx="99898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ADJUSTED GGR BY FTD COHORT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Adjusted GGR is $9.1M across Jan – Aug against $6.2M in 2025 (+47%) — the strongest measure in the deck.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Pre-2025 players produce 56% of it and the 2025 cohort 31%; 2026 first depositors only 13%.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2026 first depositors generated $1.2M of adjusted GGR across Jan – Aug — $157 per first deposit against $109 deposited on acquisition.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Channel CPA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2896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TOTAL FTDS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9600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SQ FTDS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6303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ACCRUED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3007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CPA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9711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DEP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6415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GGR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3119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NGR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9823" y="1216152"/>
            <a:ext cx="80670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NGR/DEP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216152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0">
                <a:solidFill>
                  <a:srgbClr val="6E766A"/>
                </a:solidFill>
                <a:latin typeface="Manrope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08176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5846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2896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3,433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9600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714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6303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€466,429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007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9711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€3,931,342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6415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€1,005,708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119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€755,838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9823" y="145846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19.2%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166878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171907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Influence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2896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2,675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600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6303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€299,605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007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9711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€1,068,901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6415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€89,016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3119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€33,371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9823" y="171907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192938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197967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SEO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42896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9600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6303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€155,830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3007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9711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€495,357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6415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€68,792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3119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€41,392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89823" y="197967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2189988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22402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Community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42896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49600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6303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€32,845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3007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9711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€45,272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6415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€7,992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3119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€1,361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9823" y="2240280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2450591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250088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Tipster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36192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2896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9600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6303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€10,162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3007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69711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€20,790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6415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€13,880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83119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€11,357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89823" y="2500884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54.6%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271119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276148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Meta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36192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42896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49600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56303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€47,293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63007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9711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€110,452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6415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€28,776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83119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€19,760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89823" y="2761488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17.9%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" y="297180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472" y="302209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Unpaid/Organic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36192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42896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608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49600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91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56303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3007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n/a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69711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€385,174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76415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€13,534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3119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A32C1E"/>
                </a:solidFill>
                <a:latin typeface="Manrope"/>
              </a:rPr>
              <a:t>€-27,177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89823" y="3022092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A32C1E"/>
                </a:solidFill>
                <a:latin typeface="Manrope"/>
              </a:rPr>
              <a:t>-7.1%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" y="3232404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328726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14004"/>
                </a:solidFill>
                <a:latin typeface="Manrope ExtraBold"/>
              </a:rPr>
              <a:t>Total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36192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316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42896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7,824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49600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1,232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56303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€1,026,226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63007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€131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69711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€6,059,839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76415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€1,228,768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83119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€836,969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89823" y="3282696"/>
            <a:ext cx="806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13.8%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47472" y="3493008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7472" y="3584448"/>
            <a:ext cx="8449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Cost accrued through 2026-08-31, day-proportional across each campaign window. Totals include every source. PPC (17 FTDs, €11,000) and DSP (1 FTD, €3,062) are in the total but too small to list.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Direct is 44% of first deposits from 5 partners, at €136 CPA and 19.2% NGR/DEP — the only source that is both large and efficient.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Influence is the second largest at 2,675 FTDs and the cheapest to buy (€112 CPA), but returns 3.1% NGR/DEP against a blended 13.8%.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Unpaid/Organic costs nothing and delivers 608 FTDs, but its NGR is €-27,177 — blended CPA is €131 across €1,026,226 of spend.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Streamer FTDs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670962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28325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95551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784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3470" y="1359310"/>
            <a:ext cx="266395" cy="176793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176430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606" y="1405030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Portugal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7462" y="1479499"/>
            <a:ext cx="266395" cy="164774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8664" y="1296619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2598" y="1525219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8664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Argentina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1454" y="2072688"/>
            <a:ext cx="266395" cy="105455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2656" y="1889808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6590" y="2118408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2656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Germany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5446" y="2355713"/>
            <a:ext cx="266395" cy="77153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6648" y="2172833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0582" y="2401433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6648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Norway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9438" y="2588337"/>
            <a:ext cx="266395" cy="53891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80639" y="2405457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4574" y="2634057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0639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India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3430" y="2603845"/>
            <a:ext cx="266395" cy="52340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4631" y="2420965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8566" y="2649565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4631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Brazil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7422" y="2677509"/>
            <a:ext cx="266395" cy="44973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68624" y="2494629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558" y="2723229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8624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Chile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01414" y="2778312"/>
            <a:ext cx="266395" cy="34893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2616" y="2595432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46550" y="2824032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2616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USA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45406" y="2793821"/>
            <a:ext cx="266395" cy="33342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6608" y="2610941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$490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0542" y="2839541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6608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Denmark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89398" y="2836468"/>
            <a:ext cx="266395" cy="2907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2653588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34534" y="2882188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Hungary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33390" y="2840345"/>
            <a:ext cx="266395" cy="28690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4592" y="2657465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8526" y="2886065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74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44592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Canada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77382" y="2859731"/>
            <a:ext cx="266395" cy="26751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88584" y="2676851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22518" y="2905451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88584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Sweden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21374" y="2890747"/>
            <a:ext cx="266395" cy="23650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2576" y="2707867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6510" y="2936467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61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2576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Nether.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65366" y="2921764"/>
            <a:ext cx="266395" cy="20548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76568" y="2738884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$157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0502" y="2967484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6568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Austria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09358" y="2941149"/>
            <a:ext cx="266395" cy="18609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20560" y="2758269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$85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4494" y="2986869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20560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Poland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53350" y="2945026"/>
            <a:ext cx="266395" cy="18222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64552" y="2762146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486" y="2990746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4552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Morocco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97342" y="2976042"/>
            <a:ext cx="266395" cy="1512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08544" y="2793162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$191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42478" y="3021762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8544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N. Zealand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41334" y="2983796"/>
            <a:ext cx="266395" cy="14345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52536" y="2800916"/>
            <a:ext cx="443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$201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86470" y="3029516"/>
            <a:ext cx="3761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52536" y="3172968"/>
            <a:ext cx="443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Finland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CPA ABOVE THE BAR · FIRST DEPOSITS INSIDE · TOP 18 OF 70 COUNTRIES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7472" y="3584448"/>
            <a:ext cx="84490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Cost is held per streamer, not per country: each streamer's spend is split across the countries their own first deposits came from · $305,435 over 2,698 FTDs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2,762 streamer first deposits across 70 countries; these 18 carry 88% of them.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Portugal and Argentina alone are 32% — 456 and 425 first deposits.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Blended streamer CPA is $113, but by country it runs from $34 to $490 across these 18.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Plan vs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67096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283256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95551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7845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235" y="2953943"/>
            <a:ext cx="88696" cy="17330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16200000">
            <a:off x="725271" y="263390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447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4796" y="2953943"/>
            <a:ext cx="88696" cy="17330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68832" y="263390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6891" y="2976818"/>
            <a:ext cx="88696" cy="15042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1020927" y="265677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0452" y="2976818"/>
            <a:ext cx="88696" cy="15042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1164488" y="265677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19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2547" y="2865546"/>
            <a:ext cx="88696" cy="26170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1316583" y="2545506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675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6108" y="2865546"/>
            <a:ext cx="88696" cy="26170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 rot="16200000">
            <a:off x="1460144" y="2545506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084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8203" y="2804289"/>
            <a:ext cx="88696" cy="32295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 rot="16200000">
            <a:off x="1612239" y="2484249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833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1764" y="2804289"/>
            <a:ext cx="88696" cy="32295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 rot="16200000">
            <a:off x="1755800" y="2484249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3859" y="1655517"/>
            <a:ext cx="88696" cy="147173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 rot="16200000">
            <a:off x="1907895" y="133547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3,796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7420" y="2628658"/>
            <a:ext cx="88696" cy="49858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2051456" y="230861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216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9515" y="1655517"/>
            <a:ext cx="88696" cy="147173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 rot="16200000">
            <a:off x="2203551" y="133547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3,796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3076" y="2673244"/>
            <a:ext cx="88696" cy="4540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16200000">
            <a:off x="2347112" y="23532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781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5171" y="1964131"/>
            <a:ext cx="88696" cy="116311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 rot="16200000">
            <a:off x="2499207" y="164409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8732" y="2474739"/>
            <a:ext cx="88696" cy="6525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 rot="16200000">
            <a:off x="2642768" y="2154699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347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60827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 rot="16200000">
            <a:off x="2794863" y="156655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4388" y="2607334"/>
            <a:ext cx="88696" cy="5199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6200000">
            <a:off x="2938424" y="228729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912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56483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6200000">
            <a:off x="3090519" y="156655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2478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2139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 rot="16200000">
            <a:off x="3386175" y="156655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Oct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7795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 rot="16200000">
            <a:off x="3681831" y="156655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609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3451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 rot="16200000">
            <a:off x="3977487" y="156655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3,200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175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Dec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Plan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Actual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4865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36592" y="305866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2574035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36592" y="2089403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$400K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36592" y="160477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$600K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36592" y="1120139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$800K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80355" y="2926023"/>
            <a:ext cx="88696" cy="20122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 rot="16200000">
            <a:off x="5114391" y="260598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$83K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23916" y="2926180"/>
            <a:ext cx="88696" cy="20106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 rot="16200000">
            <a:off x="5257952" y="260614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865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6011" y="2990882"/>
            <a:ext cx="88696" cy="13636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 rot="16200000">
            <a:off x="5410047" y="267084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$56K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19572" y="2991021"/>
            <a:ext cx="88696" cy="13622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 rot="16200000">
            <a:off x="5553608" y="26709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4431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71667" y="2884294"/>
            <a:ext cx="88696" cy="24295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 rot="16200000">
            <a:off x="5705703" y="256425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$100K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15228" y="2884261"/>
            <a:ext cx="88696" cy="2429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6200000">
            <a:off x="5849264" y="256422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3996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67323" y="2954789"/>
            <a:ext cx="88696" cy="17245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 rot="16200000">
            <a:off x="6001359" y="2634749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$71K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10884" y="2954758"/>
            <a:ext cx="88696" cy="17248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 rot="16200000">
            <a:off x="6144920" y="263471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3562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62979" y="1824377"/>
            <a:ext cx="88696" cy="130287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 rot="16200000">
            <a:off x="6297015" y="150433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$538K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06540" y="2762534"/>
            <a:ext cx="88696" cy="3647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 rot="16200000">
            <a:off x="6440576" y="244249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128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8635" y="1824377"/>
            <a:ext cx="88696" cy="130287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 rot="16200000">
            <a:off x="6592671" y="150433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$538K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02196" y="2899010"/>
            <a:ext cx="88696" cy="22823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 rot="16200000">
            <a:off x="6736232" y="257897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693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54291" y="2120182"/>
            <a:ext cx="88696" cy="100706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6888327" y="180014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$416K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97852" y="2764970"/>
            <a:ext cx="88696" cy="36227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 rot="16200000">
            <a:off x="7031888" y="244493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2259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49947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 rot="16200000">
            <a:off x="7183983" y="16995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$457K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93508" y="2764161"/>
            <a:ext cx="88696" cy="3630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 rot="16200000">
            <a:off x="7327544" y="244412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824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45603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7479639" y="16995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$457K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1390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Sep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41259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 rot="16200000">
            <a:off x="7775295" y="16995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$457K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0956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Oct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36915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 rot="16200000">
            <a:off x="8070951" y="16995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$457K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0521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Nov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32571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8366607" y="169958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$457K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0087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Dec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4865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38581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Plan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70219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839358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Actual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AMOUNT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7472" y="3584448"/>
            <a:ext cx="84490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Plan is the live re-baseline in the FTD Targets sheet · Jan–Apr were set equal to actuals when it was rebuilt · actuals run to Aug, the plan to Dec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7,824 first deposits against 16,135 planned for Jan – Aug — 48% of target; $855K against $2.3M, 38%.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Only testable from May — Jan–Apr were set equal to actuals when the sheet was re-baselined.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 full-year plan is 28,935. Hitting it needs 5,278 a month across Sep–Dec, against a best month so far of 1,683.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Deposits and NGR vs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$6.0M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$8.0M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235" y="3062845"/>
            <a:ext cx="88696" cy="6440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725271" y="2742805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$266K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4796" y="3062845"/>
            <a:ext cx="88696" cy="6440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68832" y="2742805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$266K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6891" y="3042904"/>
            <a:ext cx="88696" cy="8434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1020927" y="272286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$348K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0452" y="3042904"/>
            <a:ext cx="88696" cy="8434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1164488" y="272286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$348K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519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2547" y="2982827"/>
            <a:ext cx="88696" cy="14442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1316583" y="266278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$596K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6108" y="2982827"/>
            <a:ext cx="88696" cy="14442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 rot="16200000">
            <a:off x="1460144" y="266278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$596K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084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8203" y="3003768"/>
            <a:ext cx="88696" cy="12347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1612239" y="268372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$510K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1764" y="3003744"/>
            <a:ext cx="88696" cy="1235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1755800" y="26837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$510K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3859" y="2245938"/>
            <a:ext cx="88696" cy="88130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1907895" y="192589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$3.6M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7420" y="2922473"/>
            <a:ext cx="88696" cy="20477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 rot="16200000">
            <a:off x="2051456" y="260243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$845K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216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9515" y="2245938"/>
            <a:ext cx="88696" cy="88130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16200000">
            <a:off x="2203551" y="192589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$3.6M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3076" y="2924972"/>
            <a:ext cx="88696" cy="20227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2347112" y="260493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$835K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81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5171" y="2281757"/>
            <a:ext cx="88696" cy="84549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 rot="16200000">
            <a:off x="2499207" y="196171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$3.5M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732" y="2806688"/>
            <a:ext cx="88696" cy="32055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 rot="16200000">
            <a:off x="2642768" y="248664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$1.3M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347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0827" y="2149958"/>
            <a:ext cx="88696" cy="97728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 rot="16200000">
            <a:off x="2794863" y="182991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$4.0M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4388" y="2803131"/>
            <a:ext cx="88696" cy="32411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 rot="16200000">
            <a:off x="2938424" y="248309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$1.3M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9128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56483" y="2048750"/>
            <a:ext cx="88696" cy="107849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16200000">
            <a:off x="3090519" y="172871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24784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Sep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2139" y="1978455"/>
            <a:ext cx="88696" cy="114879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16200000">
            <a:off x="3386175" y="1658415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$4.7M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Oct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7795" y="1918727"/>
            <a:ext cx="88696" cy="120852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 rot="16200000">
            <a:off x="3681831" y="159868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$5.0M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6096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Nov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43451" y="1866313"/>
            <a:ext cx="88696" cy="126093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 rot="16200000">
            <a:off x="3977487" y="154627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$5.2M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1752" y="3172968"/>
            <a:ext cx="29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Plan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Actual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DEPOSITS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2891299"/>
            <a:ext cx="3493008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2822719"/>
            <a:ext cx="4937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36592" y="2412994"/>
            <a:ext cx="4937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>
                <a:solidFill>
                  <a:srgbClr val="6E766A"/>
                </a:solidFill>
                <a:latin typeface="Manrope"/>
              </a:rPr>
              <a:t>$250K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2003268"/>
            <a:ext cx="4937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>
                <a:solidFill>
                  <a:srgbClr val="6E766A"/>
                </a:solidFill>
                <a:latin typeface="Manrope"/>
              </a:rPr>
              <a:t>$500K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36592" y="1593543"/>
            <a:ext cx="4937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>
                <a:solidFill>
                  <a:srgbClr val="6E766A"/>
                </a:solidFill>
                <a:latin typeface="Manrope"/>
              </a:rPr>
              <a:t>$750K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36592" y="1183818"/>
            <a:ext cx="4937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>
                <a:solidFill>
                  <a:srgbClr val="6E766A"/>
                </a:solidFill>
                <a:latin typeface="Manrope"/>
              </a:rPr>
              <a:t>$1.0M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34304" y="2891299"/>
            <a:ext cx="87325" cy="1097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 rot="16200000">
            <a:off x="5167655" y="299859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A32C1E"/>
                </a:solidFill>
                <a:latin typeface="Manrope ExtraBold"/>
              </a:rPr>
              <a:t>-$4K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76494" y="2891299"/>
            <a:ext cx="87325" cy="10972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 rot="16200000">
            <a:off x="5309844" y="299859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A32C1E"/>
                </a:solidFill>
                <a:latin typeface="Manrope ExtraBold"/>
              </a:rPr>
              <a:t>-$4K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0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25388" y="2891299"/>
            <a:ext cx="87325" cy="2392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 rot="16200000">
            <a:off x="5458739" y="30158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A32C1E"/>
                </a:solidFill>
                <a:latin typeface="Manrope ExtraBold"/>
              </a:rPr>
              <a:t>-$15K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767578" y="2891299"/>
            <a:ext cx="87325" cy="23921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 rot="16200000">
            <a:off x="5600928" y="3015805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A32C1E"/>
                </a:solidFill>
                <a:latin typeface="Manrope ExtraBold"/>
              </a:rPr>
              <a:t>-$15K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94604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16472" y="2540066"/>
            <a:ext cx="87325" cy="35123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 rot="16200000">
            <a:off x="5749823" y="2220026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$214K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58662" y="2540067"/>
            <a:ext cx="87325" cy="35123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 rot="16200000">
            <a:off x="5892012" y="222002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$214K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85688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07556" y="2683932"/>
            <a:ext cx="87325" cy="2073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 rot="16200000">
            <a:off x="6040907" y="236389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$127K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49746" y="2683931"/>
            <a:ext cx="87325" cy="20736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 rot="16200000">
            <a:off x="6183096" y="236389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$127K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76772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8640" y="1995528"/>
            <a:ext cx="87325" cy="89577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 rot="16200000">
            <a:off x="6331991" y="167548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$547K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40830" y="2674677"/>
            <a:ext cx="87325" cy="21662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 rot="16200000">
            <a:off x="6474180" y="2354637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$132K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67856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89724" y="1995528"/>
            <a:ext cx="87325" cy="89577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 rot="16200000">
            <a:off x="6623075" y="167548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$547K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31914" y="2645963"/>
            <a:ext cx="87325" cy="24533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 rot="16200000">
            <a:off x="6765264" y="232592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58940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808" y="1906570"/>
            <a:ext cx="87325" cy="98472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 rot="16200000">
            <a:off x="6914159" y="158653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$601K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22998" y="2688601"/>
            <a:ext cx="87325" cy="20269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7056348" y="2368561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$124K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50024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71892" y="1747333"/>
            <a:ext cx="87325" cy="11439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7205243" y="142729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$698K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14081" y="2712213"/>
            <a:ext cx="87325" cy="1790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 rot="16200000">
            <a:off x="7347432" y="239217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$109K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41107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62976" y="1623560"/>
            <a:ext cx="87325" cy="126773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7496327" y="1303520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$774K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2192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Sep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4060" y="1537412"/>
            <a:ext cx="87325" cy="135388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7787411" y="121737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$826K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23275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Oct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245144" y="1464458"/>
            <a:ext cx="87325" cy="14268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 rot="16200000">
            <a:off x="8078495" y="1144418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$871K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14360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Nov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36228" y="1400746"/>
            <a:ext cx="87325" cy="149055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8369579" y="1080706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$909K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5444" y="3172968"/>
            <a:ext cx="2910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6E766A"/>
                </a:solidFill>
                <a:latin typeface="Manrope"/>
              </a:rPr>
              <a:t>Dec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03520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40680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Plan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57062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894222" y="3374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Actual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NGR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7472" y="3584448"/>
            <a:ext cx="84490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The workbook plans NGR but never GGR · May and Jun plan figures are a balancing plug: the Jan–Apr shortfall was dumped into them to hold the annual total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Deposits are $6.1M against $16.5M planned for Jan – Aug — 37% of target.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NGR is $837K against $2.7M planned — 31%; the full-year plan is $6.1M, 14% of it earned so far.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Every month from May lands between 16% and 27% of planned NGR.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Monthly CPA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17043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90">
                <a:solidFill>
                  <a:srgbClr val="6E766A"/>
                </a:solidFill>
                <a:latin typeface="Manrope"/>
              </a:rPr>
              <a:t>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4331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FTDS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2551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CPA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0770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DEP 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8990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GGR 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210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NGR 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5429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NGR/DEP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3649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DEP TOT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1869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GGR TOT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088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NGR TOT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8308" y="1170432"/>
            <a:ext cx="7182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NGR/DEP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353312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3990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€16,583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4331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447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2551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770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€265,778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8990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€13,956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7210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€-4,053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5429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3649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€648,541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1869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€124,783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088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€82,678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8308" y="139903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12.7%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158648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163220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Feb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€30,870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4331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388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2551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0770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€204,540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8990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€-28,107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7210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€-37,252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5429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-18.2%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3649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€764,361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1869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€5,568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088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€-18,686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8308" y="1632204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-2.4%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181965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186537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Mar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€75,877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4331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675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2551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50770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€383,097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8990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€161,172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7210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€140,661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5429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36.7%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3649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€915,728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1869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€387,979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088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€335,186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8308" y="186537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36.6%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2052828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209854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Apr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€99,057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14331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833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2551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0770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€255,723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8990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€65,052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7210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€51,349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5429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20.1%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23649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€729,427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1869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€235,184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60088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€191,534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78308" y="2098548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26.3%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228600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233172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May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€172,579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14331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1,286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2551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50770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€425,481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68990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€87,858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7210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€28,792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05429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6.8%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23649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€836,997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41869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€216,287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60088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€121,470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78308" y="2331720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14.5%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" y="2519172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7472" y="25648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€232,656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14331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1,171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2551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0770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€382,466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8990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€71,826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7210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€46,728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05429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12.2%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23649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€665,185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41869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€135,032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088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€76,560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8308" y="2564891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11.5%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" y="275234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7472" y="279806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Jul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6112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€261,799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14331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1,683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32551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€156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50770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€593,369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68990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€5,648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7210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€-32,243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05429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-5.4%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23649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€822,093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41869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€86,809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60088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€32,849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78308" y="2798063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4.0%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" y="298551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30312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Aug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6112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€136,804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14331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1,341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32551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50770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€677,507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68990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€37,158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87210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€16,023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05429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2.4%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23649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€677,507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1869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€37,125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088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€15,378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78308" y="3031236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2.3%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7472" y="3218688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47472" y="32735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14004"/>
                </a:solidFill>
                <a:latin typeface="Manrope ExtraBold"/>
              </a:rPr>
              <a:t>Total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6112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€1,026,226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14331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7,824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32551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€131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50770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€3,187,961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68990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€414,563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87210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€210,005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05429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6.6%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23649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€6,059,839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41869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€1,228,768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60088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€836,969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78308" y="3273552"/>
            <a:ext cx="7182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13.8%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7472" y="3451860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3534156"/>
            <a:ext cx="84490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SM = that month's intake, measured in its own first month · Tot = the same intake measured to 2026-08-31 · bonus-cost columns omitted for width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CPA runs from €37 in Jan to €199 in Jun — a 5x spread on a blended €131.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Jul bought the most first deposits (1,683) at €156, but its first-month NGR was €-32,243 — volume and quality moved in opposite directions.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Cohorts keep paying: Jan's 447 players deposited €265,778 in month one and €648,541 by Aug, 2.4x their first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531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Manrope</vt:lpstr>
      <vt:lpstr>Manrope ExtraBold</vt:lpstr>
      <vt:lpstr>Arial</vt:lpstr>
      <vt:lpstr>Helvetica Neue</vt:lpstr>
      <vt:lpstr>Open Sans Medium</vt:lpstr>
      <vt:lpstr>Calibri</vt:lpstr>
      <vt:lpstr>Simple Light</vt:lpstr>
      <vt:lpstr>Office Theme</vt:lpstr>
      <vt:lpstr>[Team/Direction Name]</vt:lpstr>
      <vt:lpstr>Q1 Overview – Wins and Losses</vt:lpstr>
      <vt:lpstr>Q2 Plans – Key Performance Indicators</vt:lpstr>
      <vt:lpstr>Q2 Plans – Objectives and Initiatives</vt:lpstr>
      <vt:lpstr>Q2 Plans – Objectives and Initiatives</vt:lpstr>
      <vt:lpstr>Appendix</vt:lpstr>
      <vt:lpstr>Appendix Content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[Team/Direction Name]</dc:title>
  <dc:creator>David Khtutsishvili</dc:creator>
  <cp:lastModifiedBy>David Khtutsishvili</cp:lastModifiedBy>
  <cp:revision>15</cp:revision>
  <dcterms:modified xsi:type="dcterms:W3CDTF">2026-04-07T19:44:45Z</dcterms:modified>
</cp:coreProperties>
</file>