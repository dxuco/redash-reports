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  <p:sldMasterId id="2147483672" r:id="rId2"/>
  </p:sldMasterIdLst>
  <p:notesMasterIdLst>
    <p:notesMasterId r:id="rId11"/>
  </p:notesMasterIdLst>
  <p:sldIdLst>
    <p:sldId id="256" r:id="rId3"/>
    <p:sldId id="257" r:id="rId10"/>
    <p:sldId id="258" r:id="rId9"/>
    <p:sldId id="259" r:id="rId8"/>
    <p:sldId id="260" r:id="rId7"/>
    <p:sldId id="261" r:id="rId6"/>
  </p:sldIdLst>
  <p:sldSz cx="9144000" cy="5143500" type="screen16x9"/>
  <p:notesSz cx="6858000" cy="9144000"/>
  <p:embeddedFontLst>
    <p:embeddedFont>
      <p:font typeface="Manrope" panose="020B0604020202020204" charset="0"/>
      <p:regular r:id="rId12"/>
      <p:bold r:id="rId13"/>
    </p:embeddedFont>
    <p:embeddedFont>
      <p:font typeface="Manrope ExtraBold" panose="020B0604020202020204" charset="0"/>
      <p:bold r:id="rId14"/>
    </p:embeddedFont>
    <p:embeddedFont>
      <p:font typeface="Open Sans Medium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50284A8-20DF-4F42-83ED-952D9E685EA5}">
  <a:tblStyle styleId="{C50284A8-20DF-4F42-83ED-952D9E685EA5}" styleName="Table_0">
    <a:wholeTbl>
      <a:tcTxStyle b="off" i="off">
        <a:font>
          <a:latin typeface="Calibri"/>
          <a:ea typeface="Calibri"/>
          <a:cs typeface="Calibri"/>
        </a:font>
        <a:schemeClr val="lt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band1H>
    <a:band2H>
      <a:tcTxStyle/>
      <a:tcStyle>
        <a:tcBdr/>
      </a:tcStyle>
    </a:band2H>
    <a:band1V>
      <a:tcTxStyle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1V>
    <a:band2V>
      <a:tcTxStyle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dk1"/>
      </a:tcTxStyle>
      <a:tcStyle>
        <a:tcBdr/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67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6" Type="http://schemas.openxmlformats.org/officeDocument/2006/relationships/slide" Target="slides/slide6.xml"/><Relationship Id="rId7" Type="http://schemas.openxmlformats.org/officeDocument/2006/relationships/slide" Target="slides/slide5.xml"/><Relationship Id="rId8" Type="http://schemas.openxmlformats.org/officeDocument/2006/relationships/slide" Target="slides/slide4.xml"/><Relationship Id="rId9" Type="http://schemas.openxmlformats.org/officeDocument/2006/relationships/slide" Target="slides/slide3.xml"/><Relationship Id="rId10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4bc2a8c10_2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g3d4bc2a8c10_2_8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body" idx="1"/>
          </p:nvPr>
        </p:nvSpPr>
        <p:spPr>
          <a:xfrm>
            <a:off x="452437" y="4439643"/>
            <a:ext cx="8239126" cy="238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50" tIns="17150" rIns="17150" bIns="1715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/>
            </a:lvl1pPr>
            <a:lvl2pPr marL="914400" lvl="1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2pPr>
            <a:lvl3pPr marL="1371600" lvl="2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3pPr>
            <a:lvl4pPr marL="1828800" lvl="3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4pPr>
            <a:lvl5pPr marL="2286000" lvl="4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title"/>
          </p:nvPr>
        </p:nvSpPr>
        <p:spPr>
          <a:xfrm>
            <a:off x="452436" y="965622"/>
            <a:ext cx="8239127" cy="174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body" idx="2"/>
          </p:nvPr>
        </p:nvSpPr>
        <p:spPr>
          <a:xfrm>
            <a:off x="452438" y="2698824"/>
            <a:ext cx="8239125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b="1"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4502906" y="4905375"/>
            <a:ext cx="138189" cy="14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1pPr>
            <a:lvl2pPr marL="914400" lvl="1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2pPr>
            <a:lvl3pPr marL="1371600" lvl="2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3pPr>
            <a:lvl4pPr marL="1828800" lvl="3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4pPr>
            <a:lvl5pPr marL="2286000" lvl="4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1pPr>
            <a:lvl2pPr marL="914400" lvl="1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2pPr>
            <a:lvl3pPr marL="1371600" lvl="2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3pPr>
            <a:lvl4pPr marL="1828800" lvl="3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4pPr>
            <a:lvl5pPr marL="2286000" lvl="4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1pPr>
            <a:lvl2pPr marL="914400" lvl="1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2pPr>
            <a:lvl3pPr marL="1371600" lvl="2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3pPr>
            <a:lvl4pPr marL="1828800" lvl="3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4pPr>
            <a:lvl5pPr marL="2286000" lvl="4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4" name="Google Shape;94;p20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1pPr>
            <a:lvl2pPr marL="914400" lvl="1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2pPr>
            <a:lvl3pPr marL="1371600" lvl="2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3pPr>
            <a:lvl4pPr marL="1828800" lvl="3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4pPr>
            <a:lvl5pPr marL="2286000" lvl="4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20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1pPr>
            <a:lvl2pPr marL="914400" lvl="1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2pPr>
            <a:lvl3pPr marL="1371600" lvl="2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3pPr>
            <a:lvl4pPr marL="1828800" lvl="3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4pPr>
            <a:lvl5pPr marL="2286000" lvl="4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2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7" name="Google Shape;107;p22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8" name="Google Shape;108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3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3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4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1pPr>
            <a:lvl2pPr marL="914400" lvl="1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2pPr>
            <a:lvl3pPr marL="1371600" lvl="2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3pPr>
            <a:lvl4pPr marL="1828800" lvl="3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4pPr>
            <a:lvl5pPr marL="2286000" lvl="4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5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1pPr>
            <a:lvl2pPr marL="914400" lvl="1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2pPr>
            <a:lvl3pPr marL="1371600" lvl="2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3pPr>
            <a:lvl4pPr marL="1828800" lvl="3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4pPr>
            <a:lvl5pPr marL="2286000" lvl="4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2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500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6" title="image-1497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6375"/>
            <a:ext cx="9144000" cy="514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TextBox 134"/>
          <p:cNvSpPr txBox="1"/>
          <p:nvPr/>
        </p:nvSpPr>
        <p:spPr>
          <a:xfrm>
            <a:off x="960120" y="1444752"/>
            <a:ext cx="7223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>
                <a:solidFill>
                  <a:srgbClr val="FFFFFF"/>
                </a:solidFill>
                <a:latin typeface="Manrope ExtraBold"/>
              </a:rPr>
              <a:t>Streamer Programme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60120" y="2231136"/>
            <a:ext cx="7223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>
                <a:solidFill>
                  <a:srgbClr val="9DE96E"/>
                </a:solidFill>
                <a:latin typeface="Manrope"/>
              </a:rPr>
              <a:t>2026 FTD Cohort  ·  January – August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315968" y="2761488"/>
            <a:ext cx="512064" cy="16459"/>
          </a:xfrm>
          <a:prstGeom prst="rect">
            <a:avLst/>
          </a:prstGeom>
          <a:solidFill>
            <a:srgbClr val="9DE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417320" y="3017520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>
                <a:solidFill>
                  <a:srgbClr val="9DE96E"/>
                </a:solidFill>
                <a:latin typeface="Manrope ExtraBold"/>
              </a:rPr>
              <a:t>120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417320" y="3493008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spc="60">
                <a:solidFill>
                  <a:srgbClr val="FFFFFF"/>
                </a:solidFill>
                <a:latin typeface="Manrope"/>
              </a:rPr>
              <a:t>STREAMERS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520440" y="3017520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>
                <a:solidFill>
                  <a:srgbClr val="9DE96E"/>
                </a:solidFill>
                <a:latin typeface="Manrope ExtraBold"/>
              </a:rPr>
              <a:t>2,762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520440" y="3493008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spc="60">
                <a:solidFill>
                  <a:srgbClr val="FFFFFF"/>
                </a:solidFill>
                <a:latin typeface="Manrope"/>
              </a:rPr>
              <a:t>FIRST DEPOSITS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514953" y="3090672"/>
            <a:ext cx="10972" cy="475488"/>
          </a:xfrm>
          <a:prstGeom prst="rect">
            <a:avLst/>
          </a:prstGeom>
          <a:solidFill>
            <a:srgbClr val="9DE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5623560" y="3017520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>
                <a:solidFill>
                  <a:srgbClr val="9DE96E"/>
                </a:solidFill>
                <a:latin typeface="Manrope ExtraBold"/>
              </a:rPr>
              <a:t>70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623560" y="3493008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spc="60">
                <a:solidFill>
                  <a:srgbClr val="FFFFFF"/>
                </a:solidFill>
                <a:latin typeface="Manrope"/>
              </a:rPr>
              <a:t>COUNTRIES TESTED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618073" y="3090672"/>
            <a:ext cx="10972" cy="475488"/>
          </a:xfrm>
          <a:prstGeom prst="rect">
            <a:avLst/>
          </a:prstGeom>
          <a:solidFill>
            <a:srgbClr val="9DE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60120" y="3968496"/>
            <a:ext cx="7223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Manrope"/>
              </a:rPr>
              <a:t>19% retained at D7  ·  23% at D30  ·  data to 2026-08-31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0" y="246888"/>
            <a:ext cx="57790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700">
                <a:solidFill>
                  <a:srgbClr val="FFFFFF"/>
                </a:solidFill>
                <a:latin typeface="Manrope ExtraBold"/>
              </a:rPr>
              <a:t>Scorecard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935431"/>
            <a:ext cx="84490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>
                <a:solidFill>
                  <a:srgbClr val="6E766A"/>
                </a:solidFill>
                <a:latin typeface="Manrope"/>
              </a:rPr>
              <a:t>All FTDs cohort · players whose first deposit landed in 2026 through a streamer · to 2026-08-31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1316736"/>
            <a:ext cx="1975104" cy="7315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9751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spc="90">
                <a:solidFill>
                  <a:srgbClr val="6E766A"/>
                </a:solidFill>
                <a:latin typeface="Manrope"/>
              </a:rPr>
              <a:t>STREAMERS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609344"/>
            <a:ext cx="197510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>
                <a:solidFill>
                  <a:srgbClr val="114004"/>
                </a:solidFill>
                <a:latin typeface="Manrope ExtraBold"/>
              </a:rPr>
              <a:t>120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2029967"/>
            <a:ext cx="19751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84 in profit · 36 in loss</a:t>
            </a:r>
          </a:p>
        </p:txBody>
      </p:sp>
      <p:sp>
        <p:nvSpPr>
          <p:cNvPr id="8" name="Rectangle 7"/>
          <p:cNvSpPr/>
          <p:nvPr/>
        </p:nvSpPr>
        <p:spPr>
          <a:xfrm>
            <a:off x="2505456" y="1316736"/>
            <a:ext cx="1975104" cy="7315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05456" y="1417320"/>
            <a:ext cx="19751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spc="90">
                <a:solidFill>
                  <a:srgbClr val="6E766A"/>
                </a:solidFill>
                <a:latin typeface="Manrope"/>
              </a:rPr>
              <a:t>FIRST DEPOSITS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5456" y="1609344"/>
            <a:ext cx="197510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>
                <a:solidFill>
                  <a:srgbClr val="114004"/>
                </a:solidFill>
                <a:latin typeface="Manrope ExtraBold"/>
              </a:rPr>
              <a:t>2,762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5456" y="2029967"/>
            <a:ext cx="19751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266 super qualified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316736"/>
            <a:ext cx="1975104" cy="7315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417320"/>
            <a:ext cx="19751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spc="90">
                <a:solidFill>
                  <a:srgbClr val="6E766A"/>
                </a:solidFill>
                <a:latin typeface="Manrope"/>
              </a:rPr>
              <a:t>DEPOSITS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609344"/>
            <a:ext cx="197510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>
                <a:solidFill>
                  <a:srgbClr val="114004"/>
                </a:solidFill>
                <a:latin typeface="Manrope ExtraBold"/>
              </a:rPr>
              <a:t>$1.15M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029967"/>
            <a:ext cx="19751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8,728 deposits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21424" y="1316736"/>
            <a:ext cx="1975104" cy="7315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21424" y="1417320"/>
            <a:ext cx="19751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spc="90">
                <a:solidFill>
                  <a:srgbClr val="6E766A"/>
                </a:solidFill>
                <a:latin typeface="Manrope"/>
              </a:rPr>
              <a:t>ADJUSTED GGR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1609344"/>
            <a:ext cx="197510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>
                <a:solidFill>
                  <a:srgbClr val="A32C1E"/>
                </a:solidFill>
                <a:latin typeface="Manrope ExtraBold"/>
              </a:rPr>
              <a:t>-$17.4K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21424" y="2029967"/>
            <a:ext cx="19751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roughly break-even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" y="2340864"/>
            <a:ext cx="1975104" cy="7315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2441448"/>
            <a:ext cx="19751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spc="90">
                <a:solidFill>
                  <a:srgbClr val="6E766A"/>
                </a:solidFill>
                <a:latin typeface="Manrope"/>
              </a:rPr>
              <a:t>INVESTED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2633472"/>
            <a:ext cx="197510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>
                <a:solidFill>
                  <a:srgbClr val="1A1A1A"/>
                </a:solidFill>
                <a:latin typeface="Manrope ExtraBold"/>
              </a:rPr>
              <a:t>$289.3K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" y="3054096"/>
            <a:ext cx="19751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103 of 120 have a deal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05456" y="2340864"/>
            <a:ext cx="1975104" cy="7315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05456" y="2441448"/>
            <a:ext cx="19751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spc="90">
                <a:solidFill>
                  <a:srgbClr val="6E766A"/>
                </a:solidFill>
                <a:latin typeface="Manrope"/>
              </a:rPr>
              <a:t>COST PER FTD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05456" y="2633472"/>
            <a:ext cx="197510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>
                <a:solidFill>
                  <a:srgbClr val="1A1A1A"/>
                </a:solidFill>
                <a:latin typeface="Manrope ExtraBold"/>
              </a:rPr>
              <a:t>$108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05456" y="3054096"/>
            <a:ext cx="19751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over 2,688 FTDs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2340864"/>
            <a:ext cx="1975104" cy="7315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2441448"/>
            <a:ext cx="19751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spc="90">
                <a:solidFill>
                  <a:srgbClr val="6E766A"/>
                </a:solidFill>
                <a:latin typeface="Manrope"/>
              </a:rPr>
              <a:t>NET OF COST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2633472"/>
            <a:ext cx="197510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>
                <a:solidFill>
                  <a:srgbClr val="A32C1E"/>
                </a:solidFill>
                <a:latin typeface="Manrope ExtraBold"/>
              </a:rPr>
              <a:t>-$306.7K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3054096"/>
            <a:ext cx="19751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adj GGR less invested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21424" y="2340864"/>
            <a:ext cx="1975104" cy="7315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21424" y="2441448"/>
            <a:ext cx="19751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spc="90">
                <a:solidFill>
                  <a:srgbClr val="6E766A"/>
                </a:solidFill>
                <a:latin typeface="Manrope"/>
              </a:rPr>
              <a:t>RETAINED D7 / D30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21424" y="2633472"/>
            <a:ext cx="197510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>
                <a:solidFill>
                  <a:srgbClr val="1A1A1A"/>
                </a:solidFill>
                <a:latin typeface="Manrope ExtraBold"/>
              </a:rPr>
              <a:t>19% / 23%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21424" y="3054096"/>
            <a:ext cx="19751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503 of 2,708 · 492 of 2,185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7472" y="3621024"/>
            <a:ext cx="8449056" cy="109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" y="3712463"/>
            <a:ext cx="844905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spc="90">
                <a:solidFill>
                  <a:srgbClr val="114004"/>
                </a:solidFill>
                <a:latin typeface="Manrope"/>
              </a:rPr>
              <a:t>SUMMARY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" y="3895344"/>
            <a:ext cx="84490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Adjusted GGR of -$17.4K is 84 streamers making $183.8K against 36 losing -$201.1K.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" y="4261104"/>
            <a:ext cx="84490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Manrope"/>
              </a:rPr>
              <a:t>Against $289.3K invested the programme is -$306.7K net of cost.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" y="4453128"/>
            <a:ext cx="84490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Manrope"/>
              </a:rPr>
              <a:t>Retention splits hard by tier: 19% at D7 across every FTD, 49–50% for Qualified and Super Qualified. The 2,198 Non Qualified first deposits barely return.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0" y="246888"/>
            <a:ext cx="57790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700">
                <a:solidFill>
                  <a:srgbClr val="FFFFFF"/>
                </a:solidFill>
                <a:latin typeface="Manrope ExtraBold"/>
              </a:rPr>
              <a:t>Top and Bottom Streamers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935431"/>
            <a:ext cx="84490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>
                <a:solidFill>
                  <a:srgbClr val="6E766A"/>
                </a:solidFill>
                <a:latin typeface="Manrope"/>
              </a:rPr>
              <a:t>Adjusted GGR by streamer, All FTDs cohort · top and bottom five of 120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1280160"/>
            <a:ext cx="3931920" cy="109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1371600"/>
            <a:ext cx="19659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90">
                <a:solidFill>
                  <a:srgbClr val="114004"/>
                </a:solidFill>
                <a:latin typeface="Manrope"/>
              </a:rPr>
              <a:t>IN PROFIT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536192"/>
            <a:ext cx="3931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84 streamers · +$183,771 combined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801368"/>
            <a:ext cx="204459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Cybertribe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952243"/>
            <a:ext cx="204459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>
                <a:solidFill>
                  <a:srgbClr val="6E766A"/>
                </a:solidFill>
                <a:latin typeface="Manrope"/>
              </a:rPr>
              <a:t>71 FTDs · $311,125 deposited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7985" y="1828800"/>
            <a:ext cx="165140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>
                <a:solidFill>
                  <a:srgbClr val="114004"/>
                </a:solidFill>
                <a:latin typeface="Manrope ExtraBold"/>
              </a:rPr>
              <a:t>$86,820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2089404"/>
            <a:ext cx="3931920" cy="7315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2153412"/>
            <a:ext cx="204459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Cybertribe_SpinHub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2304288"/>
            <a:ext cx="204459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>
                <a:solidFill>
                  <a:srgbClr val="6E766A"/>
                </a:solidFill>
                <a:latin typeface="Manrope"/>
              </a:rPr>
              <a:t>24 FTDs · $49,717 deposited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7985" y="2180844"/>
            <a:ext cx="165140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>
                <a:solidFill>
                  <a:srgbClr val="114004"/>
                </a:solidFill>
                <a:latin typeface="Manrope ExtraBold"/>
              </a:rPr>
              <a:t>$25,496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" y="2441448"/>
            <a:ext cx="3931920" cy="7315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2505456"/>
            <a:ext cx="204459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migzparcerias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2656332"/>
            <a:ext cx="204459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>
                <a:solidFill>
                  <a:srgbClr val="6E766A"/>
                </a:solidFill>
                <a:latin typeface="Manrope"/>
              </a:rPr>
              <a:t>393 FTDs · $109,684 deposited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27985" y="2532888"/>
            <a:ext cx="165140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>
                <a:solidFill>
                  <a:srgbClr val="114004"/>
                </a:solidFill>
                <a:latin typeface="Manrope ExtraBold"/>
              </a:rPr>
              <a:t>$11,644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2793491"/>
            <a:ext cx="3931920" cy="7315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2857499"/>
            <a:ext cx="204459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Bbasher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3008375"/>
            <a:ext cx="204459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>
                <a:solidFill>
                  <a:srgbClr val="6E766A"/>
                </a:solidFill>
                <a:latin typeface="Manrope"/>
              </a:rPr>
              <a:t>67 FTDs · $20,004 deposited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27985" y="2884932"/>
            <a:ext cx="165140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>
                <a:solidFill>
                  <a:srgbClr val="114004"/>
                </a:solidFill>
                <a:latin typeface="Manrope ExtraBold"/>
              </a:rPr>
              <a:t>$5,076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3145535"/>
            <a:ext cx="3931920" cy="7315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3209543"/>
            <a:ext cx="204459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TheGamblingBuddies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" y="3360419"/>
            <a:ext cx="204459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>
                <a:solidFill>
                  <a:srgbClr val="6E766A"/>
                </a:solidFill>
                <a:latin typeface="Manrope"/>
              </a:rPr>
              <a:t>32 FTDs · $11,216 deposited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27985" y="3236975"/>
            <a:ext cx="165140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>
                <a:solidFill>
                  <a:srgbClr val="114004"/>
                </a:solidFill>
                <a:latin typeface="Manrope ExtraBold"/>
              </a:rPr>
              <a:t>$3,849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64608" y="1280160"/>
            <a:ext cx="3931920" cy="109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64608" y="1371600"/>
            <a:ext cx="19659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90">
                <a:solidFill>
                  <a:srgbClr val="A32C1E"/>
                </a:solidFill>
                <a:latin typeface="Manrope"/>
              </a:rPr>
              <a:t>IN LOSS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64608" y="1536192"/>
            <a:ext cx="3931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36 streamers · -$201,124 combined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64608" y="1801368"/>
            <a:ext cx="204459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DaniChrois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64608" y="1952243"/>
            <a:ext cx="204459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>
                <a:solidFill>
                  <a:srgbClr val="6E766A"/>
                </a:solidFill>
                <a:latin typeface="Manrope"/>
              </a:rPr>
              <a:t>1 FTD · $45,904 deposited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45121" y="1828800"/>
            <a:ext cx="165140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>
                <a:solidFill>
                  <a:srgbClr val="A32C1E"/>
                </a:solidFill>
                <a:latin typeface="Manrope ExtraBold"/>
              </a:rPr>
              <a:t>-$73,136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64608" y="2089404"/>
            <a:ext cx="3931920" cy="7315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64608" y="2153412"/>
            <a:ext cx="204459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CracherZ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64608" y="2304288"/>
            <a:ext cx="204459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>
                <a:solidFill>
                  <a:srgbClr val="6E766A"/>
                </a:solidFill>
                <a:latin typeface="Manrope"/>
              </a:rPr>
              <a:t>80 FTDs · $124,982 deposited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45121" y="2180844"/>
            <a:ext cx="165140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>
                <a:solidFill>
                  <a:srgbClr val="A32C1E"/>
                </a:solidFill>
                <a:latin typeface="Manrope ExtraBold"/>
              </a:rPr>
              <a:t>-$46,799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64608" y="2441448"/>
            <a:ext cx="3931920" cy="7315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64608" y="2505456"/>
            <a:ext cx="204459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Pandella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64608" y="2656332"/>
            <a:ext cx="204459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>
                <a:solidFill>
                  <a:srgbClr val="6E766A"/>
                </a:solidFill>
                <a:latin typeface="Manrope"/>
              </a:rPr>
              <a:t>2 FTDs · $28,443 deposited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45121" y="2532888"/>
            <a:ext cx="165140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>
                <a:solidFill>
                  <a:srgbClr val="A32C1E"/>
                </a:solidFill>
                <a:latin typeface="Manrope ExtraBold"/>
              </a:rPr>
              <a:t>-$34,738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64608" y="2793491"/>
            <a:ext cx="3931920" cy="7315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64608" y="2857499"/>
            <a:ext cx="204459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DappCentre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64608" y="3008375"/>
            <a:ext cx="204459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>
                <a:solidFill>
                  <a:srgbClr val="6E766A"/>
                </a:solidFill>
                <a:latin typeface="Manrope"/>
              </a:rPr>
              <a:t>80 FTDs · $62,623 deposited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45121" y="2884932"/>
            <a:ext cx="165140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>
                <a:solidFill>
                  <a:srgbClr val="A32C1E"/>
                </a:solidFill>
                <a:latin typeface="Manrope ExtraBold"/>
              </a:rPr>
              <a:t>-$11,972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64608" y="3145535"/>
            <a:ext cx="3931920" cy="7315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64608" y="3209543"/>
            <a:ext cx="204459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Xaloslots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64608" y="3360419"/>
            <a:ext cx="204459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>
                <a:solidFill>
                  <a:srgbClr val="6E766A"/>
                </a:solidFill>
                <a:latin typeface="Manrope"/>
              </a:rPr>
              <a:t>154 FTDs · $49,737 deposited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45121" y="3236975"/>
            <a:ext cx="165140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>
                <a:solidFill>
                  <a:srgbClr val="A32C1E"/>
                </a:solidFill>
                <a:latin typeface="Manrope ExtraBold"/>
              </a:rPr>
              <a:t>-$5,862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7472" y="3621024"/>
            <a:ext cx="8449056" cy="109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7472" y="3712463"/>
            <a:ext cx="844905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spc="90">
                <a:solidFill>
                  <a:srgbClr val="114004"/>
                </a:solidFill>
                <a:latin typeface="Manrope"/>
              </a:rPr>
              <a:t>KEY POINTS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7472" y="3895344"/>
            <a:ext cx="84490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Manrope"/>
              </a:rPr>
              <a:t>Cybertribe alone is $86,820 of the $183,771 upside — the top two names carry 61% of the profit.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7472" y="4087368"/>
            <a:ext cx="84490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Manrope"/>
              </a:rPr>
              <a:t>Three names carry most of the damage: DaniChrois -$73.1K on 1 FTD, CracherZ -$46.8K, Pandella -$34.7K.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7472" y="4279392"/>
            <a:ext cx="84490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Manrope"/>
              </a:rPr>
              <a:t>Super Qualified is 10% of first deposits but 64% of deposited money — raw FTD count gives a different league table.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7472" y="4809744"/>
            <a:ext cx="84490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>
                <a:solidFill>
                  <a:srgbClr val="6E766A"/>
                </a:solidFill>
                <a:latin typeface="Manrope"/>
              </a:rPr>
              <a:t>Source: streamers-data.json · query 1732 month caches + acquisition-report cost sheet · adjusted GGR is computed upstream, not GGR minus bonus cost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0" y="246888"/>
            <a:ext cx="57790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700">
                <a:solidFill>
                  <a:srgbClr val="FFFFFF"/>
                </a:solidFill>
                <a:latin typeface="Manrope ExtraBold"/>
              </a:rPr>
              <a:t>Monthly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935431"/>
            <a:ext cx="84490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>
                <a:solidFill>
                  <a:srgbClr val="6E766A"/>
                </a:solidFill>
                <a:latin typeface="Manrope"/>
              </a:rPr>
              <a:t>Adjusted GGR by month, split by the streamer's full-year result · All FTDs cohort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2678870"/>
            <a:ext cx="4389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-$80K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2320711"/>
            <a:ext cx="4389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-$40K</a:t>
            </a:r>
          </a:p>
        </p:txBody>
      </p:sp>
      <p:sp>
        <p:nvSpPr>
          <p:cNvPr id="6" name="Rectangle 5"/>
          <p:cNvSpPr/>
          <p:nvPr/>
        </p:nvSpPr>
        <p:spPr>
          <a:xfrm>
            <a:off x="859536" y="2031132"/>
            <a:ext cx="7936992" cy="10972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962552"/>
            <a:ext cx="4389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604393"/>
            <a:ext cx="4389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$40K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6152" y="2030026"/>
            <a:ext cx="123444" cy="109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099815"/>
            <a:ext cx="9921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236976"/>
            <a:ext cx="9921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$0.1K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08276" y="2030942"/>
            <a:ext cx="123444" cy="109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51660" y="3099815"/>
            <a:ext cx="9921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Feb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51660" y="3236976"/>
            <a:ext cx="9921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$0.0K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024035"/>
            <a:ext cx="123444" cy="109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55848" y="2031132"/>
            <a:ext cx="123444" cy="21741"/>
          </a:xfrm>
          <a:prstGeom prst="rect">
            <a:avLst/>
          </a:prstGeom>
          <a:solidFill>
            <a:srgbClr val="A32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43784" y="3099815"/>
            <a:ext cx="9921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Mar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43784" y="3236976"/>
            <a:ext cx="9921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A32C1E"/>
                </a:solidFill>
                <a:latin typeface="Manrope ExtraBold"/>
              </a:rPr>
              <a:t>-$1.6K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92524" y="2031132"/>
            <a:ext cx="123444" cy="1960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47972" y="2031132"/>
            <a:ext cx="123444" cy="11054"/>
          </a:xfrm>
          <a:prstGeom prst="rect">
            <a:avLst/>
          </a:prstGeom>
          <a:solidFill>
            <a:srgbClr val="A32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35908" y="3099815"/>
            <a:ext cx="9921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Apr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35908" y="3236976"/>
            <a:ext cx="9921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A32C1E"/>
                </a:solidFill>
                <a:latin typeface="Manrope ExtraBold"/>
              </a:rPr>
              <a:t>-$3.4K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84648" y="1598627"/>
            <a:ext cx="123444" cy="432504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40096" y="2031132"/>
            <a:ext cx="123444" cy="107103"/>
          </a:xfrm>
          <a:prstGeom prst="rect">
            <a:avLst/>
          </a:prstGeom>
          <a:solidFill>
            <a:srgbClr val="A32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28032" y="3099815"/>
            <a:ext cx="9921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May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28032" y="3236976"/>
            <a:ext cx="9921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$36.3K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6772" y="1773765"/>
            <a:ext cx="123444" cy="257366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32220" y="2031132"/>
            <a:ext cx="123444" cy="24121"/>
          </a:xfrm>
          <a:prstGeom prst="rect">
            <a:avLst/>
          </a:prstGeom>
          <a:solidFill>
            <a:srgbClr val="A32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20156" y="3099815"/>
            <a:ext cx="9921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20156" y="3236976"/>
            <a:ext cx="9921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$26.0K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68896" y="1484867"/>
            <a:ext cx="123444" cy="546264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24344" y="2031132"/>
            <a:ext cx="123444" cy="782008"/>
          </a:xfrm>
          <a:prstGeom prst="rect">
            <a:avLst/>
          </a:prstGeom>
          <a:solidFill>
            <a:srgbClr val="A32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12280" y="3099815"/>
            <a:ext cx="9921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Jul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3236976"/>
            <a:ext cx="9921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A32C1E"/>
                </a:solidFill>
                <a:latin typeface="Manrope ExtraBold"/>
              </a:rPr>
              <a:t>-$26.3K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61019" y="1610582"/>
            <a:ext cx="123444" cy="420549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16467" y="2031132"/>
            <a:ext cx="123444" cy="854832"/>
          </a:xfrm>
          <a:prstGeom prst="rect">
            <a:avLst/>
          </a:prstGeom>
          <a:solidFill>
            <a:srgbClr val="A32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04403" y="3099815"/>
            <a:ext cx="9921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Aug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04403" y="3236976"/>
            <a:ext cx="9921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>
                <a:solidFill>
                  <a:srgbClr val="A32C1E"/>
                </a:solidFill>
                <a:latin typeface="Manrope ExtraBold"/>
              </a:rPr>
              <a:t>-$48.5K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9536" y="3447287"/>
            <a:ext cx="91440" cy="9144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6696" y="3428999"/>
            <a:ext cx="1828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Streamers up on the year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09190" y="3447287"/>
            <a:ext cx="91440" cy="91440"/>
          </a:xfrm>
          <a:prstGeom prst="rect">
            <a:avLst/>
          </a:prstGeom>
          <a:solidFill>
            <a:srgbClr val="A32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46350" y="3428999"/>
            <a:ext cx="1828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Down on the year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472" y="1152144"/>
            <a:ext cx="844905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spc="90">
                <a:solidFill>
                  <a:srgbClr val="114004"/>
                </a:solidFill>
                <a:latin typeface="Manrope"/>
              </a:rPr>
              <a:t>ADJUSTED GGR BY MONTH · NET BELOW EACH MONTH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7472" y="3785615"/>
            <a:ext cx="8449056" cy="109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7472" y="3877055"/>
            <a:ext cx="844905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spc="90">
                <a:solidFill>
                  <a:srgbClr val="114004"/>
                </a:solidFill>
                <a:latin typeface="Manrope"/>
              </a:rPr>
              <a:t>SUMMARY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7472" y="4059935"/>
            <a:ext cx="84490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January–June made $57.5K; July and August gave back -$74.8K.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7472" y="4425696"/>
            <a:ext cx="84490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Manrope"/>
              </a:rPr>
              <a:t>July was the largest month for first deposits — 812, 29% of the 2,762 total — and the second worst for money.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7472" y="4617720"/>
            <a:ext cx="84490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Manrope"/>
              </a:rPr>
              <a:t>The two charts are on different clocks: FTDs sit on the month the player was acquired, money on the month it moved.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0" y="246888"/>
            <a:ext cx="57790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700">
                <a:solidFill>
                  <a:srgbClr val="FFFFFF"/>
                </a:solidFill>
                <a:latin typeface="Manrope ExtraBold"/>
              </a:rPr>
              <a:t>First Deposits by Month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935431"/>
            <a:ext cx="84490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>
                <a:solidFill>
                  <a:srgbClr val="6E766A"/>
                </a:solidFill>
                <a:latin typeface="Manrope"/>
              </a:rPr>
              <a:t>Count split by FTD type, and value deposited · month of acquisition · All FTDs cohort · to 2026-08-31</a:t>
            </a:r>
          </a:p>
        </p:txBody>
      </p:sp>
      <p:sp>
        <p:nvSpPr>
          <p:cNvPr id="4" name="Rectangle 3"/>
          <p:cNvSpPr/>
          <p:nvPr/>
        </p:nvSpPr>
        <p:spPr>
          <a:xfrm>
            <a:off x="804672" y="3127248"/>
            <a:ext cx="3602736" cy="10972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3058668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2696565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200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2334463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400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972360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600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610258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800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248156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1,000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4740" y="3125437"/>
            <a:ext cx="270205" cy="1810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4740" y="3123626"/>
            <a:ext cx="270205" cy="181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2940746"/>
            <a:ext cx="45034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3172968"/>
            <a:ext cx="4503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45082" y="3125437"/>
            <a:ext cx="270205" cy="1810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5013" y="2942557"/>
            <a:ext cx="45034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5013" y="3172968"/>
            <a:ext cx="4503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Feb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95424" y="2975164"/>
            <a:ext cx="270205" cy="152083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95424" y="2926281"/>
            <a:ext cx="270205" cy="48883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95424" y="2915418"/>
            <a:ext cx="270205" cy="10863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05356" y="2732538"/>
            <a:ext cx="45034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117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5356" y="3172968"/>
            <a:ext cx="4503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Mar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45766" y="2786871"/>
            <a:ext cx="270205" cy="340376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45766" y="2727124"/>
            <a:ext cx="270205" cy="59746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45766" y="2680051"/>
            <a:ext cx="270205" cy="47073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55698" y="2497171"/>
            <a:ext cx="45034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247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55698" y="3172968"/>
            <a:ext cx="4503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Apr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96108" y="2323380"/>
            <a:ext cx="270205" cy="803867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696108" y="2165866"/>
            <a:ext cx="270205" cy="157514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696108" y="2069908"/>
            <a:ext cx="270205" cy="95957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06040" y="1887028"/>
            <a:ext cx="45034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584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06040" y="3172968"/>
            <a:ext cx="4503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May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46450" y="2509863"/>
            <a:ext cx="270205" cy="617384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46450" y="2442874"/>
            <a:ext cx="270205" cy="66988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46450" y="2374075"/>
            <a:ext cx="270205" cy="68799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56382" y="2191195"/>
            <a:ext cx="45034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416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56382" y="3172968"/>
            <a:ext cx="4503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Jun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96792" y="1925068"/>
            <a:ext cx="270205" cy="1202179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596792" y="1811005"/>
            <a:ext cx="270205" cy="114062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596792" y="1657112"/>
            <a:ext cx="270205" cy="153893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06724" y="1474232"/>
            <a:ext cx="45034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812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06724" y="3172968"/>
            <a:ext cx="4503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Jul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47134" y="2267254"/>
            <a:ext cx="270205" cy="859993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047134" y="2174918"/>
            <a:ext cx="270205" cy="92336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047134" y="2071719"/>
            <a:ext cx="270205" cy="103199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57066" y="1888839"/>
            <a:ext cx="45034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583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57066" y="3172968"/>
            <a:ext cx="4503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Aug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4672" y="3392424"/>
            <a:ext cx="91440" cy="91440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1832" y="3374136"/>
            <a:ext cx="11887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Non Qualified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558137" y="3392424"/>
            <a:ext cx="91440" cy="91440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695297" y="3374136"/>
            <a:ext cx="11887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Qualified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36038" y="3392424"/>
            <a:ext cx="91440" cy="9144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273198" y="3374136"/>
            <a:ext cx="11887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Super Qualified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7472" y="1152144"/>
            <a:ext cx="405993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spc="90">
                <a:solidFill>
                  <a:srgbClr val="114004"/>
                </a:solidFill>
                <a:latin typeface="Manrope"/>
              </a:rPr>
              <a:t>FTD COUNT BY TYPE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93792" y="3364991"/>
            <a:ext cx="3602736" cy="10972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36592" y="3296411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36592" y="2886760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$20K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36592" y="2477109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$40K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36592" y="2067458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$60K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36592" y="1657807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$80K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36592" y="1248156"/>
            <a:ext cx="3840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$100K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283860" y="3364112"/>
            <a:ext cx="270205" cy="879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93792" y="3181232"/>
            <a:ext cx="45034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$43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93792" y="3410711"/>
            <a:ext cx="4503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Jan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734202" y="3364586"/>
            <a:ext cx="270205" cy="405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644133" y="3181706"/>
            <a:ext cx="45034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$20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44133" y="3410711"/>
            <a:ext cx="4503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Feb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84544" y="3207438"/>
            <a:ext cx="270205" cy="157553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094476" y="3024558"/>
            <a:ext cx="45034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$7.7K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94476" y="3410711"/>
            <a:ext cx="4503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Mar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634886" y="3116903"/>
            <a:ext cx="270205" cy="248088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544818" y="2934023"/>
            <a:ext cx="45034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$12.1K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44818" y="3410711"/>
            <a:ext cx="4503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Apr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085228" y="2134784"/>
            <a:ext cx="270205" cy="1230207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995160" y="1951904"/>
            <a:ext cx="45034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$60.1K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995160" y="3410711"/>
            <a:ext cx="4503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May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535570" y="2645127"/>
            <a:ext cx="270205" cy="719864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445502" y="2462247"/>
            <a:ext cx="45034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$35.1K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45502" y="3410711"/>
            <a:ext cx="4503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Jun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985912" y="1369457"/>
            <a:ext cx="270205" cy="1995534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895844" y="1186577"/>
            <a:ext cx="45034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$97.4K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895844" y="3410711"/>
            <a:ext cx="4503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Jul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436254" y="1402655"/>
            <a:ext cx="270205" cy="1962336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346186" y="1219775"/>
            <a:ext cx="45034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$95.8K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346186" y="3410711"/>
            <a:ext cx="4503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Aug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736592" y="1152144"/>
            <a:ext cx="405993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spc="90">
                <a:solidFill>
                  <a:srgbClr val="114004"/>
                </a:solidFill>
                <a:latin typeface="Manrope"/>
              </a:rPr>
              <a:t>FTD VALUE DEPOSITED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47472" y="3785615"/>
            <a:ext cx="8449056" cy="109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47472" y="3877055"/>
            <a:ext cx="844905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spc="90">
                <a:solidFill>
                  <a:srgbClr val="114004"/>
                </a:solidFill>
                <a:latin typeface="Manrope"/>
              </a:rPr>
              <a:t>SUMMARY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47472" y="4059935"/>
            <a:ext cx="84490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Jul brought the most first deposits (812); Jul brought the most money ($97.4K of $308.3K).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47472" y="4425696"/>
            <a:ext cx="84490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Manrope"/>
              </a:rPr>
              <a:t>Non Qualified is 80% of every first deposit (2,198 of 2,762); only 266 cleared Super Qualified.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47472" y="4617720"/>
            <a:ext cx="84490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Manrope"/>
              </a:rPr>
              <a:t>Average first deposit rose from $54 in Jan–Apr to $120 in May–Aug — the count and the money are not moving together.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0" y="246888"/>
            <a:ext cx="57790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700">
                <a:solidFill>
                  <a:srgbClr val="FFFFFF"/>
                </a:solidFill>
                <a:latin typeface="Manrope ExtraBold"/>
              </a:rPr>
              <a:t>Cohort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935431"/>
            <a:ext cx="84490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>
                <a:solidFill>
                  <a:srgbClr val="6E766A"/>
                </a:solidFill>
                <a:latin typeface="Manrope"/>
              </a:rPr>
              <a:t>The same programme read three ways · separate cohorts, each recomputed — not filters over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84831" y="1298448"/>
            <a:ext cx="22128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spc="90">
                <a:solidFill>
                  <a:srgbClr val="6E766A"/>
                </a:solidFill>
                <a:latin typeface="Manrope"/>
              </a:rPr>
              <a:t>ALL FTDS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298448"/>
            <a:ext cx="22128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spc="90">
                <a:solidFill>
                  <a:srgbClr val="6E766A"/>
                </a:solidFill>
                <a:latin typeface="Manrope"/>
              </a:rPr>
              <a:t>QUALIFIED 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93408" y="1298448"/>
            <a:ext cx="22128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spc="90">
                <a:solidFill>
                  <a:srgbClr val="114004"/>
                </a:solidFill>
                <a:latin typeface="Manrope"/>
              </a:rPr>
              <a:t>SUPER QUALIFIED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517904"/>
            <a:ext cx="8558784" cy="109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586484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>
                <a:solidFill>
                  <a:srgbClr val="6E766A"/>
                </a:solidFill>
                <a:latin typeface="Manrope"/>
              </a:rPr>
              <a:t>Streamers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84831" y="1572768"/>
            <a:ext cx="2212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>
                <a:solidFill>
                  <a:srgbClr val="1A1A1A"/>
                </a:solidFill>
                <a:latin typeface="Manrope ExtraBold"/>
              </a:rPr>
              <a:t>120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572768"/>
            <a:ext cx="2212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>
                <a:solidFill>
                  <a:srgbClr val="1A1A1A"/>
                </a:solidFill>
                <a:latin typeface="Manrope ExtraBold"/>
              </a:rPr>
              <a:t>89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3408" y="1572768"/>
            <a:ext cx="2212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>
                <a:solidFill>
                  <a:srgbClr val="114004"/>
                </a:solidFill>
                <a:latin typeface="Manrope ExtraBold"/>
              </a:rPr>
              <a:t>68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1787652"/>
            <a:ext cx="8558784" cy="7315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85623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>
                <a:solidFill>
                  <a:srgbClr val="6E766A"/>
                </a:solidFill>
                <a:latin typeface="Manrope"/>
              </a:rPr>
              <a:t>First deposits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84831" y="1842516"/>
            <a:ext cx="2212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>
                <a:solidFill>
                  <a:srgbClr val="1A1A1A"/>
                </a:solidFill>
                <a:latin typeface="Manrope ExtraBold"/>
              </a:rPr>
              <a:t>2,762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842516"/>
            <a:ext cx="2212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>
                <a:solidFill>
                  <a:srgbClr val="1A1A1A"/>
                </a:solidFill>
                <a:latin typeface="Manrope ExtraBold"/>
              </a:rPr>
              <a:t>564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3408" y="1842516"/>
            <a:ext cx="2212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>
                <a:solidFill>
                  <a:srgbClr val="114004"/>
                </a:solidFill>
                <a:latin typeface="Manrope ExtraBold"/>
              </a:rPr>
              <a:t>266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2057400"/>
            <a:ext cx="8558784" cy="7315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2125980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>
                <a:solidFill>
                  <a:srgbClr val="6E766A"/>
                </a:solidFill>
                <a:latin typeface="Manrope"/>
              </a:rPr>
              <a:t>Deposits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84831" y="2112264"/>
            <a:ext cx="2212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>
                <a:solidFill>
                  <a:srgbClr val="1A1A1A"/>
                </a:solidFill>
                <a:latin typeface="Manrope ExtraBold"/>
              </a:rPr>
              <a:t>$1.15M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112264"/>
            <a:ext cx="2212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>
                <a:solidFill>
                  <a:srgbClr val="1A1A1A"/>
                </a:solidFill>
                <a:latin typeface="Manrope ExtraBold"/>
              </a:rPr>
              <a:t>$773.9K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3408" y="2112264"/>
            <a:ext cx="2212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>
                <a:solidFill>
                  <a:srgbClr val="114004"/>
                </a:solidFill>
                <a:latin typeface="Manrope ExtraBold"/>
              </a:rPr>
              <a:t>$741.2K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2327148"/>
            <a:ext cx="8558784" cy="7315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2395728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>
                <a:solidFill>
                  <a:srgbClr val="6E766A"/>
                </a:solidFill>
                <a:latin typeface="Manrope"/>
              </a:rPr>
              <a:t>Adjusted GGR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382012"/>
            <a:ext cx="2212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>
                <a:solidFill>
                  <a:srgbClr val="A32C1E"/>
                </a:solidFill>
                <a:latin typeface="Manrope ExtraBold"/>
              </a:rPr>
              <a:t>-$17.4K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2382012"/>
            <a:ext cx="2212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>
                <a:solidFill>
                  <a:srgbClr val="A32C1E"/>
                </a:solidFill>
                <a:latin typeface="Manrope ExtraBold"/>
              </a:rPr>
              <a:t>-$14.6K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93408" y="2382012"/>
            <a:ext cx="2212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>
                <a:solidFill>
                  <a:srgbClr val="A32C1E"/>
                </a:solidFill>
                <a:latin typeface="Manrope ExtraBold"/>
              </a:rPr>
              <a:t>-$13.0K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" y="2596896"/>
            <a:ext cx="8558784" cy="7315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" y="266547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>
                <a:solidFill>
                  <a:srgbClr val="6E766A"/>
                </a:solidFill>
                <a:latin typeface="Manrope"/>
              </a:rPr>
              <a:t>Invested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84831" y="2651760"/>
            <a:ext cx="2212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>
                <a:solidFill>
                  <a:srgbClr val="1A1A1A"/>
                </a:solidFill>
                <a:latin typeface="Manrope ExtraBold"/>
              </a:rPr>
              <a:t>$289.3K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2651760"/>
            <a:ext cx="2212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>
                <a:solidFill>
                  <a:srgbClr val="1A1A1A"/>
                </a:solidFill>
                <a:latin typeface="Manrope ExtraBold"/>
              </a:rPr>
              <a:t>$262.6K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3408" y="2651760"/>
            <a:ext cx="2212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>
                <a:solidFill>
                  <a:srgbClr val="114004"/>
                </a:solidFill>
                <a:latin typeface="Manrope ExtraBold"/>
              </a:rPr>
              <a:t>$237.9K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" y="2866644"/>
            <a:ext cx="8558784" cy="7315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" y="2935224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>
                <a:solidFill>
                  <a:srgbClr val="6E766A"/>
                </a:solidFill>
                <a:latin typeface="Manrope"/>
              </a:rPr>
              <a:t>Cost per FTD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84831" y="2921508"/>
            <a:ext cx="2212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>
                <a:solidFill>
                  <a:srgbClr val="1A1A1A"/>
                </a:solidFill>
                <a:latin typeface="Manrope ExtraBold"/>
              </a:rPr>
              <a:t>$108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2921508"/>
            <a:ext cx="2212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>
                <a:solidFill>
                  <a:srgbClr val="1A1A1A"/>
                </a:solidFill>
                <a:latin typeface="Manrope ExtraBold"/>
              </a:rPr>
              <a:t>$476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93408" y="2921508"/>
            <a:ext cx="2212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>
                <a:solidFill>
                  <a:srgbClr val="114004"/>
                </a:solidFill>
                <a:latin typeface="Manrope ExtraBold"/>
              </a:rPr>
              <a:t>$915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" y="3136392"/>
            <a:ext cx="8558784" cy="7315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" y="320497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>
                <a:solidFill>
                  <a:srgbClr val="6E766A"/>
                </a:solidFill>
                <a:latin typeface="Manrope"/>
              </a:rPr>
              <a:t>Retained D7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84831" y="3191256"/>
            <a:ext cx="2212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>
                <a:solidFill>
                  <a:srgbClr val="1A1A1A"/>
                </a:solidFill>
                <a:latin typeface="Manrope ExtraBold"/>
              </a:rPr>
              <a:t>19%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0" y="3191256"/>
            <a:ext cx="2212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>
                <a:solidFill>
                  <a:srgbClr val="1A1A1A"/>
                </a:solidFill>
                <a:latin typeface="Manrope ExtraBold"/>
              </a:rPr>
              <a:t>49%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93408" y="3191256"/>
            <a:ext cx="2212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>
                <a:solidFill>
                  <a:srgbClr val="114004"/>
                </a:solidFill>
                <a:latin typeface="Manrope ExtraBold"/>
              </a:rPr>
              <a:t>50%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472" y="3406140"/>
            <a:ext cx="8558784" cy="7315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7472" y="3474720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>
                <a:solidFill>
                  <a:srgbClr val="6E766A"/>
                </a:solidFill>
                <a:latin typeface="Manrope"/>
              </a:rPr>
              <a:t>Retained D30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84831" y="3461004"/>
            <a:ext cx="2212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>
                <a:solidFill>
                  <a:srgbClr val="1A1A1A"/>
                </a:solidFill>
                <a:latin typeface="Manrope ExtraBold"/>
              </a:rPr>
              <a:t>23%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3461004"/>
            <a:ext cx="2212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>
                <a:solidFill>
                  <a:srgbClr val="1A1A1A"/>
                </a:solidFill>
                <a:latin typeface="Manrope ExtraBold"/>
              </a:rPr>
              <a:t>54%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3408" y="3461004"/>
            <a:ext cx="2212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>
                <a:solidFill>
                  <a:srgbClr val="114004"/>
                </a:solidFill>
                <a:latin typeface="Manrope ExtraBold"/>
              </a:rPr>
              <a:t>55%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7472" y="3675887"/>
            <a:ext cx="8558784" cy="109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47472" y="3913631"/>
            <a:ext cx="8449056" cy="109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7472" y="4005071"/>
            <a:ext cx="844905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spc="90">
                <a:solidFill>
                  <a:srgbClr val="114004"/>
                </a:solidFill>
                <a:latin typeface="Manrope"/>
              </a:rPr>
              <a:t>SUMMARY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7472" y="4187951"/>
            <a:ext cx="84490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Retention: 19% at D7 across every first deposit, 49–50% for Qualified and above.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7472" y="4553712"/>
            <a:ext cx="84490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Manrope"/>
              </a:rPr>
              <a:t>266 Super Qualified players — 10% of the 2,762 first deposits — carry $741.2K of the $1.15M deposited, 64% of the money.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7472" y="4745736"/>
            <a:ext cx="84490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Manrope"/>
              </a:rPr>
              <a:t>Cost per FTD rises from $108 to $915 as you climb the tiers. The 2,198 Non Qualified first deposits barely come back at all.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</TotalTime>
  <Words>531</Words>
  <Application>Microsoft Office PowerPoint</Application>
  <PresentationFormat>On-screen Show (16:9)</PresentationFormat>
  <Paragraphs>67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Manrope</vt:lpstr>
      <vt:lpstr>Manrope ExtraBold</vt:lpstr>
      <vt:lpstr>Arial</vt:lpstr>
      <vt:lpstr>Helvetica Neue</vt:lpstr>
      <vt:lpstr>Open Sans Medium</vt:lpstr>
      <vt:lpstr>Calibri</vt:lpstr>
      <vt:lpstr>Simple Light</vt:lpstr>
      <vt:lpstr>Office Theme</vt:lpstr>
      <vt:lpstr>[Team/Direction Name]</vt:lpstr>
      <vt:lpstr>Q1 Overview – Wins and Losses</vt:lpstr>
      <vt:lpstr>Q2 Plans – Key Performance Indicators</vt:lpstr>
      <vt:lpstr>Q2 Plans – Objectives and Initiatives</vt:lpstr>
      <vt:lpstr>Q2 Plans – Objectives and Initiatives</vt:lpstr>
      <vt:lpstr>Appendix</vt:lpstr>
      <vt:lpstr>Appendix Content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[Team/Direction Name]</dc:title>
  <dc:creator>David Khtutsishvili</dc:creator>
  <cp:lastModifiedBy>David Khtutsishvili</cp:lastModifiedBy>
  <cp:revision>15</cp:revision>
  <dcterms:modified xsi:type="dcterms:W3CDTF">2026-04-07T19:44:45Z</dcterms:modified>
</cp:coreProperties>
</file>