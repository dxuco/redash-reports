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4" r:id="rId7"/>
    <p:sldId id="261" r:id="rId8"/>
    <p:sldId id="262" r:id="rId9"/>
    <p:sldId id="263" r:id="rId10"/>
  </p:sldIdLst>
  <p:sldSz cx="9144000" cy="5143500" type="screen16x9"/>
  <p:notesSz cx="6858000" cy="9144000"/>
  <p:embeddedFontLst>
    <p:embeddedFont>
      <p:font typeface="Manrope" panose="020B0604020202020204" charset="0"/>
      <p:regular r:id="rId12"/>
      <p:bold r:id="rId13"/>
    </p:embeddedFont>
    <p:embeddedFont>
      <p:font typeface="Manrope ExtraBold" panose="020B0604020202020204" charset="0"/>
      <p:bold r:id="rId14"/>
    </p:embeddedFont>
    <p:embeddedFont>
      <p:font typeface="Open Sans Medium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0284A8-20DF-4F42-83ED-952D9E685EA5}">
  <a:tblStyle styleId="{C50284A8-20DF-4F42-83ED-952D9E685EA5}" styleName="Table_0">
    <a:wholeTbl>
      <a:tcTxStyle b="off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dk1"/>
      </a:tcTxStyle>
      <a:tcStyle>
        <a:tcBdr/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67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4bc2a8c10_2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g3d4bc2a8c10_2_8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4bc2a8c10_2_89:notes"/>
          <p:cNvSpPr txBox="1">
            <a:spLocks noGrp="1"/>
          </p:cNvSpPr>
          <p:nvPr>
            <p:ph type="body" idx="1"/>
          </p:nvPr>
        </p:nvSpPr>
        <p:spPr>
          <a:xfrm>
            <a:off x="351790" y="2819400"/>
            <a:ext cx="6217920" cy="5693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600"/>
              </a:spcBef>
              <a:spcAft>
                <a:spcPts val="0"/>
              </a:spcAft>
              <a:buSzPts val="2200"/>
              <a:buFont typeface="Helvetica Neue"/>
              <a:buNone/>
            </a:pPr>
            <a:endParaRPr/>
          </a:p>
        </p:txBody>
      </p:sp>
      <p:sp>
        <p:nvSpPr>
          <p:cNvPr id="140" name="Google Shape;140;g3d4bc2a8c10_2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0675" y="384175"/>
            <a:ext cx="4022725" cy="2262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4bc2a8c10_2_100:notes"/>
          <p:cNvSpPr txBox="1">
            <a:spLocks noGrp="1"/>
          </p:cNvSpPr>
          <p:nvPr>
            <p:ph type="body" idx="1"/>
          </p:nvPr>
        </p:nvSpPr>
        <p:spPr>
          <a:xfrm>
            <a:off x="351790" y="2819400"/>
            <a:ext cx="6217920" cy="5693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600"/>
              </a:spcBef>
              <a:spcAft>
                <a:spcPts val="0"/>
              </a:spcAft>
              <a:buSzPts val="2200"/>
              <a:buFont typeface="Helvetica Neue"/>
              <a:buNone/>
            </a:pPr>
            <a:endParaRPr/>
          </a:p>
        </p:txBody>
      </p:sp>
      <p:sp>
        <p:nvSpPr>
          <p:cNvPr id="150" name="Google Shape;150;g3d4bc2a8c10_2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0675" y="384175"/>
            <a:ext cx="4022725" cy="2262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4bc2a8c10_2_108:notes"/>
          <p:cNvSpPr txBox="1">
            <a:spLocks noGrp="1"/>
          </p:cNvSpPr>
          <p:nvPr>
            <p:ph type="body" idx="1"/>
          </p:nvPr>
        </p:nvSpPr>
        <p:spPr>
          <a:xfrm>
            <a:off x="351790" y="2819400"/>
            <a:ext cx="6217920" cy="5693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600"/>
              </a:spcBef>
              <a:spcAft>
                <a:spcPts val="0"/>
              </a:spcAft>
              <a:buSzPts val="2200"/>
              <a:buFont typeface="Helvetica Neue"/>
              <a:buNone/>
            </a:pPr>
            <a:endParaRPr/>
          </a:p>
        </p:txBody>
      </p:sp>
      <p:sp>
        <p:nvSpPr>
          <p:cNvPr id="157" name="Google Shape;157;g3d4bc2a8c10_2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0675" y="384175"/>
            <a:ext cx="4022725" cy="2262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4bc2a8c10_2_108:notes"/>
          <p:cNvSpPr txBox="1">
            <a:spLocks noGrp="1"/>
          </p:cNvSpPr>
          <p:nvPr>
            <p:ph type="body" idx="1"/>
          </p:nvPr>
        </p:nvSpPr>
        <p:spPr>
          <a:xfrm>
            <a:off x="351790" y="2819400"/>
            <a:ext cx="6217920" cy="5693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600"/>
              </a:spcBef>
              <a:spcAft>
                <a:spcPts val="0"/>
              </a:spcAft>
              <a:buSzPts val="2200"/>
              <a:buFont typeface="Helvetica Neue"/>
              <a:buNone/>
            </a:pPr>
            <a:endParaRPr/>
          </a:p>
        </p:txBody>
      </p:sp>
      <p:sp>
        <p:nvSpPr>
          <p:cNvPr id="157" name="Google Shape;157;g3d4bc2a8c10_2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0675" y="384175"/>
            <a:ext cx="4022725" cy="2262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88134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4bc2a8c10_2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g3d4bc2a8c10_2_1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4bc2a8c10_2_135:notes"/>
          <p:cNvSpPr txBox="1">
            <a:spLocks noGrp="1"/>
          </p:cNvSpPr>
          <p:nvPr>
            <p:ph type="body" idx="1"/>
          </p:nvPr>
        </p:nvSpPr>
        <p:spPr>
          <a:xfrm>
            <a:off x="351790" y="2819400"/>
            <a:ext cx="6217920" cy="5693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600"/>
              </a:spcBef>
              <a:spcAft>
                <a:spcPts val="0"/>
              </a:spcAft>
              <a:buSzPts val="2200"/>
              <a:buFont typeface="Helvetica Neue"/>
              <a:buNone/>
            </a:pPr>
            <a:endParaRPr/>
          </a:p>
        </p:txBody>
      </p:sp>
      <p:sp>
        <p:nvSpPr>
          <p:cNvPr id="182" name="Google Shape;182;g3d4bc2a8c10_2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0675" y="384175"/>
            <a:ext cx="4022725" cy="2262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4bc2a8c10_2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g3d4bc2a8c10_2_14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452437" y="4439643"/>
            <a:ext cx="8239126" cy="238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127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2"/>
          </p:nvPr>
        </p:nvSpPr>
        <p:spPr>
          <a:xfrm>
            <a:off x="452438" y="2698824"/>
            <a:ext cx="82391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4502906" y="4905375"/>
            <a:ext cx="138189" cy="14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4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5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500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500"/>
              <a:buNone/>
              <a:defRPr sz="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6" title="image-149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6375"/>
            <a:ext cx="9144000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6"/>
          <p:cNvSpPr txBox="1">
            <a:spLocks noGrp="1"/>
          </p:cNvSpPr>
          <p:nvPr>
            <p:ph type="title"/>
          </p:nvPr>
        </p:nvSpPr>
        <p:spPr>
          <a:xfrm>
            <a:off x="2141249" y="1824317"/>
            <a:ext cx="4861500" cy="12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" sz="4500" b="1" i="0" u="none" strike="noStrike" cap="none" dirty="0">
                <a:solidFill>
                  <a:srgbClr val="9DE96E"/>
                </a:solidFill>
                <a:latin typeface="Manrope"/>
                <a:ea typeface="Manrope"/>
                <a:cs typeface="Manrope"/>
                <a:sym typeface="Manrope"/>
              </a:rPr>
              <a:t>[Team/Direction Name]</a:t>
            </a:r>
            <a:endParaRPr b="1" dirty="0">
              <a:solidFill>
                <a:srgbClr val="9DE96E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6" name="Google Shape;136;p26"/>
          <p:cNvSpPr txBox="1">
            <a:spLocks noGrp="1"/>
          </p:cNvSpPr>
          <p:nvPr>
            <p:ph type="body" idx="2"/>
          </p:nvPr>
        </p:nvSpPr>
        <p:spPr>
          <a:xfrm>
            <a:off x="7002750" y="633825"/>
            <a:ext cx="1419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April </a:t>
            </a:r>
            <a:r>
              <a:rPr lang="ka-GE" sz="1800" b="0" i="0" u="none" strike="noStrike" cap="none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8</a:t>
            </a:r>
            <a:r>
              <a:rPr lang="en" sz="1800" b="0" i="0" u="none" strike="noStrike" cap="none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, 2026</a:t>
            </a:r>
            <a:endParaRPr sz="1800" b="0" i="0" u="none" strike="noStrike" cap="none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7" name="Google Shape;137;p26"/>
          <p:cNvSpPr txBox="1"/>
          <p:nvPr/>
        </p:nvSpPr>
        <p:spPr>
          <a:xfrm>
            <a:off x="2726800" y="3535850"/>
            <a:ext cx="35112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" sz="1800" i="0" u="none" strike="noStrike" cap="none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Q2 Quarterly Business Review</a:t>
            </a:r>
            <a:endParaRPr sz="18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/>
        </p:nvSpPr>
        <p:spPr>
          <a:xfrm>
            <a:off x="83634" y="1563959"/>
            <a:ext cx="6927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7"/>
          <p:cNvSpPr txBox="1">
            <a:spLocks noGrp="1"/>
          </p:cNvSpPr>
          <p:nvPr>
            <p:ph type="title"/>
          </p:nvPr>
        </p:nvSpPr>
        <p:spPr>
          <a:xfrm>
            <a:off x="4550951" y="287330"/>
            <a:ext cx="43866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 sz="2000" b="1" i="0" u="none" strike="noStrike" cap="none">
                <a:latin typeface="Manrope"/>
                <a:ea typeface="Manrope"/>
                <a:cs typeface="Manrope"/>
                <a:sym typeface="Manrope"/>
              </a:rPr>
              <a:t>Q1 Overview – Wins and Losses</a:t>
            </a:r>
            <a:endParaRPr sz="2000" b="1" i="0" u="none" strike="noStrike" cap="none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4" name="Google Shape;144;p27"/>
          <p:cNvSpPr txBox="1"/>
          <p:nvPr/>
        </p:nvSpPr>
        <p:spPr>
          <a:xfrm>
            <a:off x="342900" y="1563959"/>
            <a:ext cx="8343900" cy="1419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spAutoFit/>
          </a:bodyPr>
          <a:lstStyle/>
          <a:p>
            <a:pPr marL="279400" marR="0" lvl="0" indent="-273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nrope"/>
              <a:buAutoNum type="arabicPeriod"/>
            </a:pPr>
            <a:r>
              <a:rPr lang="en-US" sz="15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Compared to Jan and Feb FTD Raised 1.6X Times (From 300 to 600)</a:t>
            </a:r>
            <a:endParaRPr sz="500" dirty="0">
              <a:latin typeface="Manrope"/>
              <a:ea typeface="Manrope"/>
              <a:cs typeface="Manrope"/>
              <a:sym typeface="Manrope"/>
            </a:endParaRPr>
          </a:p>
          <a:p>
            <a:pPr marL="279400" marR="0" lvl="0" indent="-273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nrope"/>
              <a:buAutoNum type="arabicPeriod"/>
            </a:pPr>
            <a:r>
              <a:rPr lang="en-US" sz="15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Sign Up Flow improved which Increased R2D % 2X Times</a:t>
            </a:r>
            <a:endParaRPr lang="en-US" sz="500" dirty="0">
              <a:latin typeface="Manrope"/>
              <a:ea typeface="Manrope"/>
              <a:cs typeface="Manrope"/>
              <a:sym typeface="Manrope"/>
            </a:endParaRPr>
          </a:p>
          <a:p>
            <a:pPr marL="279400" marR="0" lvl="0" indent="-273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nrope"/>
              <a:buAutoNum type="arabicPeriod"/>
            </a:pPr>
            <a:r>
              <a:rPr lang="en-US" sz="15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Page Loading Time decreased by 2 Seconds, which increased our Domain Rating</a:t>
            </a:r>
          </a:p>
          <a:p>
            <a:pPr marL="279400" marR="0" lvl="0" indent="-273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nrope"/>
              <a:buAutoNum type="arabicPeriod"/>
            </a:pPr>
            <a:r>
              <a:rPr lang="en-US" sz="15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Created </a:t>
            </a:r>
            <a:r>
              <a:rPr lang="en-US" sz="1500" dirty="0" err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Wayzen</a:t>
            </a:r>
            <a:r>
              <a:rPr lang="en-US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Branding </a:t>
            </a:r>
            <a:endParaRPr lang="en-US" sz="5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251251" y="1151825"/>
            <a:ext cx="7420200" cy="311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34275" tIns="17150" rIns="34275" bIns="17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114004"/>
                </a:solidFill>
                <a:latin typeface="Manrope"/>
                <a:ea typeface="Manrope"/>
                <a:cs typeface="Manrope"/>
                <a:sym typeface="Manrope"/>
              </a:rPr>
              <a:t>TOP 3 Wins of Q1 – What Went Really Well In the Previous Quarter?</a:t>
            </a:r>
            <a:endParaRPr sz="1800" b="1" dirty="0">
              <a:solidFill>
                <a:srgbClr val="114004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342900" y="3575673"/>
            <a:ext cx="8343900" cy="107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spAutoFit/>
          </a:bodyPr>
          <a:lstStyle/>
          <a:p>
            <a:pPr marL="279400" marR="0" lvl="0" indent="-273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nrope"/>
              <a:buAutoNum type="arabicPeriod"/>
            </a:pPr>
            <a:r>
              <a:rPr lang="en-US" sz="15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We failed to Reach FTD Target of Q1</a:t>
            </a:r>
            <a:endParaRPr sz="500" dirty="0">
              <a:latin typeface="Manrope"/>
              <a:ea typeface="Manrope"/>
              <a:cs typeface="Manrope"/>
              <a:sym typeface="Manrope"/>
            </a:endParaRPr>
          </a:p>
          <a:p>
            <a:pPr marL="279400" marR="0" lvl="0" indent="-273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nrope"/>
              <a:buAutoNum type="arabicPeriod"/>
            </a:pPr>
            <a:r>
              <a:rPr lang="en-US" sz="15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CRM On-boarding flow is not launched</a:t>
            </a:r>
          </a:p>
          <a:p>
            <a:pPr marL="279400" marR="0" lvl="0" indent="-273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nrope"/>
              <a:buAutoNum type="arabicPeriod"/>
            </a:pPr>
            <a:r>
              <a:rPr lang="en-US" sz="15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Retention rate still struggles for FTD, reaching only 23% </a:t>
            </a:r>
            <a:endParaRPr lang="en-US" sz="5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251250" y="3211875"/>
            <a:ext cx="8435550" cy="3116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34275" tIns="17150" rIns="34275" bIns="1715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114004"/>
                </a:solidFill>
                <a:latin typeface="Manrope"/>
              </a:rPr>
              <a:t>TOP 3 Losses of Q1 – What Could Have Gone Better in the Previous Quarter?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/>
        </p:nvSpPr>
        <p:spPr>
          <a:xfrm>
            <a:off x="83634" y="1563959"/>
            <a:ext cx="6927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8"/>
          <p:cNvSpPr txBox="1">
            <a:spLocks noGrp="1"/>
          </p:cNvSpPr>
          <p:nvPr>
            <p:ph type="title"/>
          </p:nvPr>
        </p:nvSpPr>
        <p:spPr>
          <a:xfrm>
            <a:off x="3217326" y="225951"/>
            <a:ext cx="54477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 sz="2000" b="1" i="0" u="none" strike="noStrike" cap="none" dirty="0">
                <a:latin typeface="Manrope"/>
                <a:ea typeface="Manrope"/>
                <a:cs typeface="Manrope"/>
                <a:sym typeface="Manrope"/>
              </a:rPr>
              <a:t>Q2 Plans – Key Performance Indicators</a:t>
            </a:r>
            <a:endParaRPr sz="2000" b="1" i="0" u="none" strike="noStrike" cap="none" dirty="0">
              <a:latin typeface="Manrope"/>
              <a:ea typeface="Manrope"/>
              <a:cs typeface="Manrope"/>
              <a:sym typeface="Manrope"/>
            </a:endParaRPr>
          </a:p>
        </p:txBody>
      </p:sp>
      <p:graphicFrame>
        <p:nvGraphicFramePr>
          <p:cNvPr id="154" name="Google Shape;154;p28"/>
          <p:cNvGraphicFramePr/>
          <p:nvPr>
            <p:extLst>
              <p:ext uri="{D42A27DB-BD31-4B8C-83A1-F6EECF244321}">
                <p14:modId xmlns:p14="http://schemas.microsoft.com/office/powerpoint/2010/main" val="1226705787"/>
              </p:ext>
            </p:extLst>
          </p:nvPr>
        </p:nvGraphicFramePr>
        <p:xfrm>
          <a:off x="348735" y="1110651"/>
          <a:ext cx="8113778" cy="2502450"/>
        </p:xfrm>
        <a:graphic>
          <a:graphicData uri="http://schemas.openxmlformats.org/drawingml/2006/table">
            <a:tbl>
              <a:tblPr firstRow="1" bandRow="1">
                <a:noFill/>
                <a:tableStyleId>{C50284A8-20DF-4F42-83ED-952D9E685EA5}</a:tableStyleId>
              </a:tblPr>
              <a:tblGrid>
                <a:gridCol w="2075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8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9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 u="none" strike="noStrike" cap="none">
                          <a:solidFill>
                            <a:schemeClr val="lt1"/>
                          </a:solidFill>
                          <a:latin typeface="Manrope ExtraBold"/>
                          <a:ea typeface="Manrope ExtraBold"/>
                          <a:cs typeface="Manrope ExtraBold"/>
                          <a:sym typeface="Manrope ExtraBold"/>
                        </a:rPr>
                        <a:t>KPI</a:t>
                      </a:r>
                      <a:endParaRPr sz="1600" b="0">
                        <a:latin typeface="Manrope ExtraBold"/>
                        <a:ea typeface="Manrope ExtraBold"/>
                        <a:cs typeface="Manrope ExtraBold"/>
                        <a:sym typeface="Manrope ExtraBold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40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 u="none" strike="noStrike" cap="none" dirty="0">
                          <a:solidFill>
                            <a:schemeClr val="lt1"/>
                          </a:solidFill>
                          <a:latin typeface="Manrope ExtraBold"/>
                          <a:ea typeface="Manrope ExtraBold"/>
                          <a:cs typeface="Manrope ExtraBold"/>
                          <a:sym typeface="Manrope ExtraBold"/>
                        </a:rPr>
                        <a:t>Target</a:t>
                      </a:r>
                      <a:endParaRPr sz="1600" b="0" dirty="0">
                        <a:latin typeface="Manrope ExtraBold"/>
                        <a:ea typeface="Manrope ExtraBold"/>
                        <a:cs typeface="Manrope ExtraBold"/>
                        <a:sym typeface="Manrope ExtraBold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400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 dirty="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KPI 1</a:t>
                      </a:r>
                      <a:endParaRPr sz="1200" b="1" dirty="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Manrope"/>
                          <a:ea typeface="Calibri"/>
                          <a:cs typeface="Calibri"/>
                          <a:sym typeface="Manrope"/>
                        </a:rPr>
                        <a:t>FTD - 8500 </a:t>
                      </a: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 dirty="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KPI 2</a:t>
                      </a:r>
                      <a:endParaRPr sz="1200" b="1" dirty="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Manrope"/>
                          <a:sym typeface="Arial"/>
                        </a:rPr>
                        <a:t>FTD Retention Rate Increase from 23% to 30%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Manrope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 dirty="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KPI 3</a:t>
                      </a:r>
                      <a:endParaRPr sz="1200" b="1" dirty="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Manrope"/>
                          <a:ea typeface="Calibri"/>
                          <a:cs typeface="Calibri"/>
                          <a:sym typeface="Arial"/>
                        </a:rPr>
                        <a:t>Increase Regular Retention Rate 43% to 50%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Manrope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KPI 4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Manrope"/>
                          <a:ea typeface="Calibri"/>
                          <a:cs typeface="Calibri"/>
                          <a:sym typeface="Arial"/>
                        </a:rPr>
                        <a:t>R2D from 15% to 25%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Manrope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09577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/>
        </p:nvSpPr>
        <p:spPr>
          <a:xfrm>
            <a:off x="83634" y="1563959"/>
            <a:ext cx="6927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9"/>
          <p:cNvSpPr txBox="1">
            <a:spLocks noGrp="1"/>
          </p:cNvSpPr>
          <p:nvPr>
            <p:ph type="title"/>
          </p:nvPr>
        </p:nvSpPr>
        <p:spPr>
          <a:xfrm>
            <a:off x="2998775" y="192725"/>
            <a:ext cx="57594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 sz="2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Q2 Plans – Objectives and Initiatives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1" name="Google Shape;161;p29"/>
          <p:cNvGraphicFramePr/>
          <p:nvPr>
            <p:extLst>
              <p:ext uri="{D42A27DB-BD31-4B8C-83A1-F6EECF244321}">
                <p14:modId xmlns:p14="http://schemas.microsoft.com/office/powerpoint/2010/main" val="113422634"/>
              </p:ext>
            </p:extLst>
          </p:nvPr>
        </p:nvGraphicFramePr>
        <p:xfrm>
          <a:off x="485323" y="928578"/>
          <a:ext cx="7856421" cy="3768113"/>
        </p:xfrm>
        <a:graphic>
          <a:graphicData uri="http://schemas.openxmlformats.org/drawingml/2006/table">
            <a:tbl>
              <a:tblPr firstRow="1" bandRow="1">
                <a:noFill/>
                <a:tableStyleId>{C50284A8-20DF-4F42-83ED-952D9E685EA5}</a:tableStyleId>
              </a:tblPr>
              <a:tblGrid>
                <a:gridCol w="2921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6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8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207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Objective 1 - Create The Best-in-Class Customer Experience</a:t>
                      </a: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400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 dirty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400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 dirty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400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032609"/>
                  </a:ext>
                </a:extLst>
              </a:tr>
              <a:tr h="32120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none" strike="noStrike" cap="none" dirty="0">
                          <a:solidFill>
                            <a:schemeClr val="lt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Initiatives</a:t>
                      </a:r>
                      <a:endParaRPr b="1" dirty="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40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400" b="1" u="none" strike="noStrike" cap="none" dirty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40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</a:t>
                      </a:r>
                      <a:endParaRPr sz="1400" b="1" u="none" strike="noStrike" cap="none" dirty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400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32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Pre-FTD, FTD Onboarding Flow in CRM</a:t>
                      </a:r>
                      <a:endParaRPr sz="1200" dirty="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Map out and automate a multi-channel messaging sequence that triggers at registration to convert leads into their first deposit.</a:t>
                      </a: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FTD Retention from 22% to 30%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92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Create Retention Flow in CRM</a:t>
                      </a: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Build a logic-based communication journey that re-engages active users and automates "win-back" efforts for those becoming inactive</a:t>
                      </a:r>
                      <a:r>
                        <a:rPr lang="en-US" sz="1200" dirty="0"/>
                        <a:t>.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Manrope"/>
                          <a:ea typeface="Arial"/>
                          <a:cs typeface="Arial"/>
                          <a:sym typeface="Arial"/>
                        </a:rPr>
                        <a:t>Regular Retention 43% to 50%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Manrope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32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Create </a:t>
                      </a:r>
                      <a:r>
                        <a:rPr kumimoji="0" lang="en-US" sz="12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Smartico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Missions</a:t>
                      </a: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Configure a series of gamified tasks and milestones within the </a:t>
                      </a:r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Smartico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 dashboard to reward specific in-app player behaviors.</a:t>
                      </a:r>
                      <a:endParaRPr sz="120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Manrope"/>
                          <a:ea typeface="Arial"/>
                          <a:cs typeface="Arial"/>
                          <a:sym typeface="Arial"/>
                        </a:rPr>
                        <a:t>Regular Retention 43% to 50%</a:t>
                      </a: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/>
        </p:nvSpPr>
        <p:spPr>
          <a:xfrm>
            <a:off x="83634" y="1563959"/>
            <a:ext cx="6927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7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9"/>
          <p:cNvSpPr txBox="1">
            <a:spLocks noGrp="1"/>
          </p:cNvSpPr>
          <p:nvPr>
            <p:ph type="title"/>
          </p:nvPr>
        </p:nvSpPr>
        <p:spPr>
          <a:xfrm>
            <a:off x="2998775" y="192725"/>
            <a:ext cx="57594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 sz="2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Q2 Plans – Objectives and Initiatives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1" name="Google Shape;161;p29"/>
          <p:cNvGraphicFramePr/>
          <p:nvPr>
            <p:extLst>
              <p:ext uri="{D42A27DB-BD31-4B8C-83A1-F6EECF244321}">
                <p14:modId xmlns:p14="http://schemas.microsoft.com/office/powerpoint/2010/main" val="3478561087"/>
              </p:ext>
            </p:extLst>
          </p:nvPr>
        </p:nvGraphicFramePr>
        <p:xfrm>
          <a:off x="464541" y="852377"/>
          <a:ext cx="7856421" cy="4204635"/>
        </p:xfrm>
        <a:graphic>
          <a:graphicData uri="http://schemas.openxmlformats.org/drawingml/2006/table">
            <a:tbl>
              <a:tblPr firstRow="1" bandRow="1">
                <a:noFill/>
                <a:tableStyleId>{C50284A8-20DF-4F42-83ED-952D9E685EA5}</a:tableStyleId>
              </a:tblPr>
              <a:tblGrid>
                <a:gridCol w="2126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6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935"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u="none" strike="noStrike" cap="none" dirty="0">
                          <a:solidFill>
                            <a:schemeClr val="lt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Objective 2 - </a:t>
                      </a:r>
                      <a:r>
                        <a:rPr lang="en-US" b="1" u="none" strike="noStrike" cap="none" dirty="0">
                          <a:solidFill>
                            <a:schemeClr val="lt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Deliver the Best User Acquisition Performance in Company History</a:t>
                      </a:r>
                      <a:endParaRPr b="1" dirty="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400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 dirty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400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 dirty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400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93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Affiliate Bonus Program</a:t>
                      </a:r>
                      <a:endParaRPr sz="1200" dirty="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Design and implement a tiered incentive structure that rewards </a:t>
                      </a:r>
                      <a:r>
                        <a:rPr lang="en-US" sz="1200" dirty="0" err="1">
                          <a:solidFill>
                            <a:schemeClr val="tx1"/>
                          </a:solidFill>
                        </a:rPr>
                        <a:t>Aff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. Managers for high-quality traffic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Manrope"/>
                          <a:ea typeface="Calibri"/>
                          <a:cs typeface="Arial"/>
                          <a:sym typeface="Manrope"/>
                        </a:rPr>
                        <a:t>FTD - 8500 </a:t>
                      </a: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Tailored Promo offers </a:t>
                      </a: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Segment the user base by behavior and spending patterns to deliver personalized bonuses that resonate with individual player preferences.</a:t>
                      </a:r>
                      <a:endParaRPr sz="120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Manrope"/>
                          <a:ea typeface="Calibri"/>
                          <a:cs typeface="Arial"/>
                          <a:sym typeface="Manrope"/>
                        </a:rPr>
                        <a:t>FTD - 8500 </a:t>
                      </a: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Launch Non-Standard</a:t>
                      </a: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\</a:t>
                      </a: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Develop and deploy creative, non-traditional promotional mechanics—such as gamified rewards or unique risk-free bets—to differentiate from competitors.</a:t>
                      </a:r>
                      <a:endParaRPr sz="120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Manrope"/>
                          <a:ea typeface="Calibri"/>
                          <a:cs typeface="Arial"/>
                          <a:sym typeface="Arial"/>
                        </a:rPr>
                        <a:t>FTD – 1300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Manrope"/>
                        <a:ea typeface="Calibri"/>
                        <a:cs typeface="Arial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German Go-To-Market</a:t>
                      </a: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Execute a localized entry strategy that ensures full regulatory compliance while tailoring marketing assets to the specific preferences of the German audience.</a:t>
                      </a:r>
                      <a:endParaRPr sz="120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Manrope"/>
                          <a:ea typeface="Calibri"/>
                          <a:cs typeface="Arial"/>
                          <a:sym typeface="Arial"/>
                        </a:rPr>
                        <a:t>FTD – 1000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Manrope"/>
                        <a:ea typeface="Calibri"/>
                        <a:cs typeface="Arial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Media Strategy Formation</a:t>
                      </a: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Research and select the optimal mix of digital and traditional channels to maximize brand visibility and user acquisition within the allocated budget.</a:t>
                      </a:r>
                      <a:endParaRPr kumimoji="0" sz="12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anrope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Manrope"/>
                          <a:ea typeface="Calibri"/>
                          <a:cs typeface="Arial"/>
                          <a:sym typeface="Arial"/>
                        </a:rPr>
                        <a:t>FTD - 4500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Manrope"/>
                        <a:ea typeface="Calibri"/>
                        <a:cs typeface="Arial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3646080"/>
                  </a:ext>
                </a:extLst>
              </a:tr>
              <a:tr h="306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nrope"/>
                          <a:sym typeface="Arial"/>
                        </a:rPr>
                        <a:t>Community Strategy</a:t>
                      </a: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Establish and moderate dedicated social hubs (such as Discord or Telegram) to foster direct engagement, gather user feedback, and build brand loyalty through exclusive content.</a:t>
                      </a:r>
                      <a:endParaRPr sz="12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Manrope"/>
                          <a:ea typeface="Calibri"/>
                          <a:cs typeface="Arial"/>
                          <a:sym typeface="Arial"/>
                        </a:rPr>
                        <a:t>FTD - 200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Manrope"/>
                        <a:ea typeface="Calibri"/>
                        <a:cs typeface="Arial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898940"/>
                  </a:ext>
                </a:extLst>
              </a:tr>
              <a:tr h="306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SEO Strategy</a:t>
                      </a:r>
                    </a:p>
                  </a:txBody>
                  <a:tcPr marL="34300" marR="34300" marT="17150" marB="17150" anchor="ctr">
                    <a:lnL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Conduct comprehensive keyword research and on-page optimization </a:t>
                      </a: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to improve organic search rankings and drive high-intent traffic to the site.</a:t>
                      </a:r>
                      <a:endParaRPr sz="12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Manrope"/>
                          <a:ea typeface="Calibri"/>
                          <a:cs typeface="Arial"/>
                          <a:sym typeface="Arial"/>
                        </a:rPr>
                        <a:t>FTD - 4500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Manrope"/>
                        <a:ea typeface="Calibri"/>
                        <a:cs typeface="Arial"/>
                        <a:sym typeface="Arial"/>
                      </a:endParaRPr>
                    </a:p>
                  </a:txBody>
                  <a:tcPr marL="34300" marR="34300" marT="17150" marB="17150" anchor="ctr">
                    <a:lnL w="9525" cap="flat" cmpd="sng" algn="ctr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140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464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3599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E96E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>
            <a:spLocks noGrp="1"/>
          </p:cNvSpPr>
          <p:nvPr>
            <p:ph type="title"/>
          </p:nvPr>
        </p:nvSpPr>
        <p:spPr>
          <a:xfrm>
            <a:off x="238774" y="1964742"/>
            <a:ext cx="4861546" cy="1203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</a:pPr>
            <a:r>
              <a:rPr lang="en" sz="4500" i="0" u="none" strike="noStrike" cap="none">
                <a:solidFill>
                  <a:srgbClr val="114004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Appendix</a:t>
            </a:r>
            <a:endParaRPr>
              <a:solidFill>
                <a:srgbClr val="114004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77" name="Google Shape;177;p31"/>
          <p:cNvSpPr txBox="1">
            <a:spLocks noGrp="1"/>
          </p:cNvSpPr>
          <p:nvPr>
            <p:ph type="body" idx="2"/>
          </p:nvPr>
        </p:nvSpPr>
        <p:spPr>
          <a:xfrm>
            <a:off x="6736175" y="4454900"/>
            <a:ext cx="1340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" sz="1400" i="0" u="none" strike="noStrike" cap="none" dirty="0">
                <a:solidFill>
                  <a:srgbClr val="114004"/>
                </a:solidFill>
                <a:latin typeface="Manrope"/>
                <a:ea typeface="Manrope"/>
                <a:cs typeface="Manrope"/>
                <a:sym typeface="Manrope"/>
              </a:rPr>
              <a:t>April </a:t>
            </a:r>
            <a:r>
              <a:rPr lang="ka-GE" sz="1400" i="0" u="none" strike="noStrike" cap="none" dirty="0">
                <a:solidFill>
                  <a:srgbClr val="114004"/>
                </a:solidFill>
                <a:latin typeface="Manrope"/>
                <a:ea typeface="Manrope"/>
                <a:cs typeface="Manrope"/>
                <a:sym typeface="Manrope"/>
              </a:rPr>
              <a:t>8</a:t>
            </a:r>
            <a:r>
              <a:rPr lang="en" sz="1400" i="0" u="none" strike="noStrike" cap="none" dirty="0">
                <a:solidFill>
                  <a:srgbClr val="114004"/>
                </a:solidFill>
                <a:latin typeface="Manrope"/>
                <a:ea typeface="Manrope"/>
                <a:cs typeface="Manrope"/>
                <a:sym typeface="Manrope"/>
              </a:rPr>
              <a:t>, 2026</a:t>
            </a:r>
            <a:endParaRPr sz="1400" i="0" u="none" strike="noStrike" cap="none" dirty="0">
              <a:solidFill>
                <a:srgbClr val="114004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8" name="Google Shape;178;p31"/>
          <p:cNvSpPr txBox="1"/>
          <p:nvPr/>
        </p:nvSpPr>
        <p:spPr>
          <a:xfrm>
            <a:off x="5100320" y="1964742"/>
            <a:ext cx="3335179" cy="1340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</a:pPr>
            <a:r>
              <a:rPr lang="en" sz="2600">
                <a:solidFill>
                  <a:srgbClr val="114004"/>
                </a:solidFill>
                <a:latin typeface="Manrope"/>
                <a:ea typeface="Manrope"/>
                <a:cs typeface="Manrope"/>
                <a:sym typeface="Manrope"/>
              </a:rPr>
              <a:t>Q2 Quarterly Business Review</a:t>
            </a:r>
            <a:endParaRPr sz="500">
              <a:solidFill>
                <a:srgbClr val="114004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79" name="Google Shape;179;p31" title="wayzen no bg dark green@4x.png"/>
          <p:cNvPicPr preferRelativeResize="0"/>
          <p:nvPr/>
        </p:nvPicPr>
        <p:blipFill rotWithShape="1">
          <a:blip r:embed="rId3">
            <a:alphaModFix/>
          </a:blip>
          <a:srcRect r="75388"/>
          <a:stretch/>
        </p:blipFill>
        <p:spPr>
          <a:xfrm>
            <a:off x="850775" y="1798628"/>
            <a:ext cx="513777" cy="53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/>
          <p:nvPr/>
        </p:nvSpPr>
        <p:spPr>
          <a:xfrm>
            <a:off x="-12600" y="0"/>
            <a:ext cx="9169200" cy="868800"/>
          </a:xfrm>
          <a:prstGeom prst="rect">
            <a:avLst/>
          </a:prstGeom>
          <a:solidFill>
            <a:srgbClr val="9DE96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2"/>
          <p:cNvSpPr txBox="1"/>
          <p:nvPr/>
        </p:nvSpPr>
        <p:spPr>
          <a:xfrm>
            <a:off x="83634" y="1563959"/>
            <a:ext cx="6927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2"/>
          <p:cNvSpPr txBox="1">
            <a:spLocks noGrp="1"/>
          </p:cNvSpPr>
          <p:nvPr>
            <p:ph type="title"/>
          </p:nvPr>
        </p:nvSpPr>
        <p:spPr>
          <a:xfrm>
            <a:off x="2474400" y="225450"/>
            <a:ext cx="40809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 sz="3000" i="0" u="none" strike="noStrike" cap="none">
                <a:solidFill>
                  <a:srgbClr val="114004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Appendix Content</a:t>
            </a:r>
            <a:endParaRPr sz="3000" i="0" u="none" strike="noStrike" cap="none">
              <a:solidFill>
                <a:srgbClr val="114004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87" name="Google Shape;187;p32"/>
          <p:cNvSpPr txBox="1"/>
          <p:nvPr/>
        </p:nvSpPr>
        <p:spPr>
          <a:xfrm>
            <a:off x="342900" y="1563959"/>
            <a:ext cx="83439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4004"/>
                </a:solidFill>
                <a:latin typeface="Manrope"/>
                <a:ea typeface="Manrope"/>
                <a:cs typeface="Manrope"/>
                <a:sym typeface="Manrope"/>
              </a:rPr>
              <a:t>In the appendix, you can put any additional content, charts, data, creative or even humorous content that you will deem as a logical addition to your presentation. </a:t>
            </a:r>
            <a:endParaRPr sz="1600">
              <a:solidFill>
                <a:srgbClr val="114004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3" title="image-149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6375"/>
            <a:ext cx="9144000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3"/>
          <p:cNvSpPr txBox="1">
            <a:spLocks noGrp="1"/>
          </p:cNvSpPr>
          <p:nvPr>
            <p:ph type="title"/>
          </p:nvPr>
        </p:nvSpPr>
        <p:spPr>
          <a:xfrm>
            <a:off x="2666850" y="2256775"/>
            <a:ext cx="38865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" sz="5200" i="0" u="none" strike="noStrike" cap="none">
                <a:solidFill>
                  <a:srgbClr val="9DE96E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Thank You</a:t>
            </a:r>
            <a:endParaRPr sz="5200" i="0" u="none" strike="noStrike" cap="none">
              <a:solidFill>
                <a:srgbClr val="9DE96E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531</Words>
  <Application>Microsoft Office PowerPoint</Application>
  <PresentationFormat>On-screen Show (16:9)</PresentationFormat>
  <Paragraphs>67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Manrope</vt:lpstr>
      <vt:lpstr>Manrope ExtraBold</vt:lpstr>
      <vt:lpstr>Arial</vt:lpstr>
      <vt:lpstr>Helvetica Neue</vt:lpstr>
      <vt:lpstr>Open Sans Medium</vt:lpstr>
      <vt:lpstr>Calibri</vt:lpstr>
      <vt:lpstr>Simple Light</vt:lpstr>
      <vt:lpstr>Office Theme</vt:lpstr>
      <vt:lpstr>[Team/Direction Name]</vt:lpstr>
      <vt:lpstr>Q1 Overview – Wins and Losses</vt:lpstr>
      <vt:lpstr>Q2 Plans – Key Performance Indicators</vt:lpstr>
      <vt:lpstr>Q2 Plans – Objectives and Initiatives</vt:lpstr>
      <vt:lpstr>Q2 Plans – Objectives and Initiatives</vt:lpstr>
      <vt:lpstr>Appendix</vt:lpstr>
      <vt:lpstr>Appendix Content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[Team/Direction Name]</dc:title>
  <dc:creator>David Khtutsishvili</dc:creator>
  <cp:lastModifiedBy>David Khtutsishvili</cp:lastModifiedBy>
  <cp:revision>15</cp:revision>
  <dcterms:modified xsi:type="dcterms:W3CDTF">2026-04-07T19:44:45Z</dcterms:modified>
</cp:coreProperties>
</file>